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Bricolage Grotesque Semi Bold" panose="020B0604020202020204" charset="0"/>
      <p:regular r:id="rId13"/>
    </p:embeddedFont>
    <p:embeddedFont>
      <p:font typeface="Inter" panose="020B0604020202020204" charset="0"/>
      <p:regular r:id="rId14"/>
    </p:embeddedFon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8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9278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0.png"/><Relationship Id="rId18" Type="http://schemas.openxmlformats.org/officeDocument/2006/relationships/image" Target="../media/image-4-18.svg"/><Relationship Id="rId3" Type="http://schemas.openxmlformats.org/officeDocument/2006/relationships/image" Target="../media/image5.png"/><Relationship Id="rId7" Type="http://schemas.openxmlformats.org/officeDocument/2006/relationships/image" Target="../media/image-4-6.svg"/><Relationship Id="rId12" Type="http://schemas.openxmlformats.org/officeDocument/2006/relationships/image" Target="../media/image-4-12.svg"/><Relationship Id="rId2" Type="http://schemas.openxmlformats.org/officeDocument/2006/relationships/notesSlide" Target="../notesSlides/notesSlide4.xml"/><Relationship Id="rId16"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4-3.svg"/><Relationship Id="rId15" Type="http://schemas.openxmlformats.org/officeDocument/2006/relationships/image" Target="../media/image-4-15.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4-9.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949440" y="0"/>
            <a:ext cx="7680960" cy="8229600"/>
          </a:xfrm>
          <a:prstGeom prst="rect">
            <a:avLst/>
          </a:prstGeom>
        </p:spPr>
      </p:pic>
      <p:sp>
        <p:nvSpPr>
          <p:cNvPr id="3" name="Text 0"/>
          <p:cNvSpPr/>
          <p:nvPr/>
        </p:nvSpPr>
        <p:spPr>
          <a:xfrm>
            <a:off x="656987" y="809744"/>
            <a:ext cx="6001226" cy="2940725"/>
          </a:xfrm>
          <a:prstGeom prst="rect">
            <a:avLst/>
          </a:prstGeom>
          <a:noFill/>
          <a:ln/>
        </p:spPr>
        <p:txBody>
          <a:bodyPr wrap="square" lIns="0" tIns="0" rIns="0" bIns="0" rtlCol="0" anchor="t"/>
          <a:lstStyle/>
          <a:p>
            <a:pPr marL="0" indent="0" algn="l">
              <a:lnSpc>
                <a:spcPts val="4600"/>
              </a:lnSpc>
              <a:buNone/>
            </a:pPr>
            <a:r>
              <a:rPr lang="en-US" sz="3650" dirty="0">
                <a:solidFill>
                  <a:srgbClr val="000000"/>
                </a:solidFill>
                <a:latin typeface="Bricolage Grotesque Semi Bold" pitchFamily="34" charset="0"/>
                <a:ea typeface="Bricolage Grotesque Semi Bold" pitchFamily="34" charset="-122"/>
                <a:cs typeface="Bricolage Grotesque Semi Bold" pitchFamily="34" charset="-120"/>
              </a:rPr>
              <a:t>📘</a:t>
            </a:r>
            <a:r>
              <a:rPr lang="en-US" sz="3650" dirty="0">
                <a:solidFill>
                  <a:srgbClr val="2C2926"/>
                </a:solidFill>
                <a:latin typeface="Bricolage Grotesque Semi Bold" pitchFamily="34" charset="0"/>
                <a:ea typeface="Bricolage Grotesque Semi Bold" pitchFamily="34" charset="-122"/>
                <a:cs typeface="Bricolage Grotesque Semi Bold" pitchFamily="34" charset="-120"/>
              </a:rPr>
              <a:t> PROJECT DOCUMENTATION Yavij Express – Community Based Ride Sharing Platform</a:t>
            </a:r>
            <a:endParaRPr lang="en-US" sz="3650" dirty="0"/>
          </a:p>
        </p:txBody>
      </p:sp>
      <p:sp>
        <p:nvSpPr>
          <p:cNvPr id="4" name="Text 1"/>
          <p:cNvSpPr/>
          <p:nvPr/>
        </p:nvSpPr>
        <p:spPr>
          <a:xfrm>
            <a:off x="656987" y="4031933"/>
            <a:ext cx="6001226" cy="750808"/>
          </a:xfrm>
          <a:prstGeom prst="rect">
            <a:avLst/>
          </a:prstGeom>
          <a:noFill/>
          <a:ln/>
        </p:spPr>
        <p:txBody>
          <a:bodyPr wrap="square" lIns="0" tIns="0" rIns="0" bIns="0" rtlCol="0" anchor="t"/>
          <a:lstStyle/>
          <a:p>
            <a:pPr marL="0" indent="0" algn="l">
              <a:lnSpc>
                <a:spcPts val="2950"/>
              </a:lnSpc>
              <a:buNone/>
            </a:pPr>
            <a:r>
              <a:rPr lang="en-US" sz="1800" b="1" dirty="0">
                <a:solidFill>
                  <a:srgbClr val="2C2926"/>
                </a:solidFill>
                <a:latin typeface="Inter" pitchFamily="34" charset="0"/>
                <a:ea typeface="Inter" pitchFamily="34" charset="-122"/>
                <a:cs typeface="Inter" pitchFamily="34" charset="-120"/>
              </a:rPr>
              <a:t>Project Title:</a:t>
            </a:r>
            <a:r>
              <a:rPr lang="en-US" sz="1800" dirty="0">
                <a:solidFill>
                  <a:srgbClr val="2C2926"/>
                </a:solidFill>
                <a:latin typeface="Inter" pitchFamily="34" charset="0"/>
                <a:ea typeface="Inter" pitchFamily="34" charset="-122"/>
                <a:cs typeface="Inter" pitchFamily="34" charset="-120"/>
              </a:rPr>
              <a:t> Yavij Express – Community Based Ride Sharing Platform</a:t>
            </a:r>
            <a:endParaRPr lang="en-US" sz="1800" dirty="0"/>
          </a:p>
        </p:txBody>
      </p:sp>
      <p:sp>
        <p:nvSpPr>
          <p:cNvPr id="5" name="Text 2"/>
          <p:cNvSpPr/>
          <p:nvPr/>
        </p:nvSpPr>
        <p:spPr>
          <a:xfrm>
            <a:off x="656987" y="4993838"/>
            <a:ext cx="6001226" cy="375404"/>
          </a:xfrm>
          <a:prstGeom prst="rect">
            <a:avLst/>
          </a:prstGeom>
          <a:noFill/>
          <a:ln/>
        </p:spPr>
        <p:txBody>
          <a:bodyPr wrap="none" lIns="0" tIns="0" rIns="0" bIns="0" rtlCol="0" anchor="t"/>
          <a:lstStyle/>
          <a:p>
            <a:pPr marL="0" indent="0" algn="l">
              <a:lnSpc>
                <a:spcPts val="2950"/>
              </a:lnSpc>
              <a:buNone/>
            </a:pPr>
            <a:r>
              <a:rPr lang="en-US" sz="1800" b="1" dirty="0">
                <a:solidFill>
                  <a:srgbClr val="2C2926"/>
                </a:solidFill>
                <a:latin typeface="Inter" pitchFamily="34" charset="0"/>
                <a:ea typeface="Inter" pitchFamily="34" charset="-122"/>
                <a:cs typeface="Inter" pitchFamily="34" charset="-120"/>
              </a:rPr>
              <a:t>Team Members:</a:t>
            </a:r>
            <a:endParaRPr lang="en-US" sz="1800" dirty="0"/>
          </a:p>
        </p:txBody>
      </p:sp>
      <p:sp>
        <p:nvSpPr>
          <p:cNvPr id="6" name="Text 3"/>
          <p:cNvSpPr/>
          <p:nvPr/>
        </p:nvSpPr>
        <p:spPr>
          <a:xfrm>
            <a:off x="656987" y="5580340"/>
            <a:ext cx="6001226" cy="300395"/>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Yash Bhandva</a:t>
            </a:r>
            <a:endParaRPr lang="en-US" sz="1450" dirty="0"/>
          </a:p>
        </p:txBody>
      </p:sp>
      <p:sp>
        <p:nvSpPr>
          <p:cNvPr id="7" name="Text 4"/>
          <p:cNvSpPr/>
          <p:nvPr/>
        </p:nvSpPr>
        <p:spPr>
          <a:xfrm>
            <a:off x="656987" y="5946338"/>
            <a:ext cx="6001226" cy="300395"/>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Ali Asgar Jamani</a:t>
            </a:r>
            <a:endParaRPr lang="en-US" sz="1450" dirty="0"/>
          </a:p>
        </p:txBody>
      </p:sp>
      <p:sp>
        <p:nvSpPr>
          <p:cNvPr id="8" name="Text 5"/>
          <p:cNvSpPr/>
          <p:nvPr/>
        </p:nvSpPr>
        <p:spPr>
          <a:xfrm>
            <a:off x="656987" y="6457831"/>
            <a:ext cx="6001226" cy="375404"/>
          </a:xfrm>
          <a:prstGeom prst="rect">
            <a:avLst/>
          </a:prstGeom>
          <a:noFill/>
          <a:ln/>
        </p:spPr>
        <p:txBody>
          <a:bodyPr wrap="none" lIns="0" tIns="0" rIns="0" bIns="0" rtlCol="0" anchor="t"/>
          <a:lstStyle/>
          <a:p>
            <a:pPr marL="0" indent="0" algn="l">
              <a:lnSpc>
                <a:spcPts val="2950"/>
              </a:lnSpc>
              <a:buNone/>
            </a:pPr>
            <a:r>
              <a:rPr lang="en-US" sz="1800" b="1" dirty="0">
                <a:solidFill>
                  <a:srgbClr val="2C2926"/>
                </a:solidFill>
                <a:latin typeface="Inter" pitchFamily="34" charset="0"/>
                <a:ea typeface="Inter" pitchFamily="34" charset="-122"/>
                <a:cs typeface="Inter" pitchFamily="34" charset="-120"/>
              </a:rPr>
              <a:t>Semester:</a:t>
            </a:r>
            <a:r>
              <a:rPr lang="en-US" sz="1800" dirty="0">
                <a:solidFill>
                  <a:srgbClr val="2C2926"/>
                </a:solidFill>
                <a:latin typeface="Inter" pitchFamily="34" charset="0"/>
                <a:ea typeface="Inter" pitchFamily="34" charset="-122"/>
                <a:cs typeface="Inter" pitchFamily="34" charset="-120"/>
              </a:rPr>
              <a:t> 6th</a:t>
            </a:r>
            <a:endParaRPr lang="en-US" sz="1800" dirty="0"/>
          </a:p>
        </p:txBody>
      </p:sp>
      <p:sp>
        <p:nvSpPr>
          <p:cNvPr id="9" name="Text 6"/>
          <p:cNvSpPr/>
          <p:nvPr/>
        </p:nvSpPr>
        <p:spPr>
          <a:xfrm>
            <a:off x="656987" y="7044333"/>
            <a:ext cx="6001226" cy="375404"/>
          </a:xfrm>
          <a:prstGeom prst="rect">
            <a:avLst/>
          </a:prstGeom>
          <a:noFill/>
          <a:ln/>
        </p:spPr>
        <p:txBody>
          <a:bodyPr wrap="none" lIns="0" tIns="0" rIns="0" bIns="0" rtlCol="0" anchor="t"/>
          <a:lstStyle/>
          <a:p>
            <a:pPr marL="0" indent="0" algn="l">
              <a:lnSpc>
                <a:spcPts val="2950"/>
              </a:lnSpc>
              <a:buNone/>
            </a:pPr>
            <a:r>
              <a:rPr lang="en-US" sz="1800" b="1" dirty="0">
                <a:solidFill>
                  <a:srgbClr val="2C2926"/>
                </a:solidFill>
                <a:latin typeface="Inter" pitchFamily="34" charset="0"/>
                <a:ea typeface="Inter" pitchFamily="34" charset="-122"/>
                <a:cs typeface="Inter" pitchFamily="34" charset="-120"/>
              </a:rPr>
              <a:t>College:</a:t>
            </a:r>
            <a:r>
              <a:rPr lang="en-US" sz="1800" dirty="0">
                <a:solidFill>
                  <a:srgbClr val="2C2926"/>
                </a:solidFill>
                <a:latin typeface="Inter" pitchFamily="34" charset="0"/>
                <a:ea typeface="Inter" pitchFamily="34" charset="-122"/>
                <a:cs typeface="Inter" pitchFamily="34" charset="-120"/>
              </a:rPr>
              <a:t> KN University</a:t>
            </a:r>
            <a:endParaRPr lang="en-US"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72396" y="738783"/>
            <a:ext cx="2467451" cy="308372"/>
          </a:xfrm>
          <a:prstGeom prst="rect">
            <a:avLst/>
          </a:prstGeom>
          <a:noFill/>
          <a:ln/>
        </p:spPr>
        <p:txBody>
          <a:bodyPr wrap="none" lIns="0" tIns="0" rIns="0" bIns="0" rtlCol="0" anchor="t"/>
          <a:lstStyle/>
          <a:p>
            <a:pPr marL="0" indent="0" algn="l">
              <a:lnSpc>
                <a:spcPts val="2400"/>
              </a:lnSpc>
              <a:buNone/>
            </a:pPr>
            <a:r>
              <a:rPr lang="en-US" sz="1900" dirty="0">
                <a:solidFill>
                  <a:srgbClr val="E7BF6A"/>
                </a:solidFill>
                <a:latin typeface="Bricolage Grotesque Semi Bold" pitchFamily="34" charset="0"/>
                <a:ea typeface="Bricolage Grotesque Semi Bold" pitchFamily="34" charset="-122"/>
                <a:cs typeface="Bricolage Grotesque Semi Bold" pitchFamily="34" charset="-120"/>
              </a:rPr>
              <a:t>1. Abstract</a:t>
            </a:r>
            <a:endParaRPr lang="en-US" sz="1900" dirty="0"/>
          </a:p>
        </p:txBody>
      </p:sp>
      <p:sp>
        <p:nvSpPr>
          <p:cNvPr id="3" name="Text 1"/>
          <p:cNvSpPr/>
          <p:nvPr/>
        </p:nvSpPr>
        <p:spPr>
          <a:xfrm>
            <a:off x="1072396" y="1126093"/>
            <a:ext cx="8210788" cy="493514"/>
          </a:xfrm>
          <a:prstGeom prst="rect">
            <a:avLst/>
          </a:prstGeom>
          <a:noFill/>
          <a:ln/>
        </p:spPr>
        <p:txBody>
          <a:bodyPr wrap="none" lIns="0" tIns="0" rIns="0" bIns="0" rtlCol="0" anchor="t"/>
          <a:lstStyle/>
          <a:p>
            <a:pPr marL="0" indent="0" algn="l">
              <a:lnSpc>
                <a:spcPts val="3850"/>
              </a:lnSpc>
              <a:buNone/>
            </a:pPr>
            <a:r>
              <a:rPr lang="en-US" sz="3100" dirty="0">
                <a:solidFill>
                  <a:srgbClr val="2C2926"/>
                </a:solidFill>
                <a:latin typeface="Bricolage Grotesque Semi Bold" pitchFamily="34" charset="0"/>
                <a:ea typeface="Bricolage Grotesque Semi Bold" pitchFamily="34" charset="-122"/>
                <a:cs typeface="Bricolage Grotesque Semi Bold" pitchFamily="34" charset="-120"/>
              </a:rPr>
              <a:t>Community-Driven Transportation Solution</a:t>
            </a:r>
            <a:endParaRPr lang="en-US" sz="3100" dirty="0"/>
          </a:p>
        </p:txBody>
      </p:sp>
      <p:sp>
        <p:nvSpPr>
          <p:cNvPr id="4" name="Text 2"/>
          <p:cNvSpPr/>
          <p:nvPr/>
        </p:nvSpPr>
        <p:spPr>
          <a:xfrm>
            <a:off x="1072396" y="1915597"/>
            <a:ext cx="12485489" cy="1973461"/>
          </a:xfrm>
          <a:prstGeom prst="rect">
            <a:avLst/>
          </a:prstGeom>
          <a:noFill/>
          <a:ln/>
        </p:spPr>
        <p:txBody>
          <a:bodyPr wrap="square" lIns="0" tIns="0" rIns="0" bIns="0" rtlCol="0" anchor="t"/>
          <a:lstStyle/>
          <a:p>
            <a:pPr marL="0" indent="0" algn="l">
              <a:lnSpc>
                <a:spcPts val="3100"/>
              </a:lnSpc>
              <a:buNone/>
            </a:pPr>
            <a:r>
              <a:rPr lang="en-US" sz="1900" dirty="0">
                <a:solidFill>
                  <a:srgbClr val="2C2926"/>
                </a:solidFill>
                <a:latin typeface="Inter" pitchFamily="34" charset="0"/>
                <a:ea typeface="Inter" pitchFamily="34" charset="-122"/>
                <a:cs typeface="Inter" pitchFamily="34" charset="-120"/>
              </a:rPr>
              <a:t>Yavij Express is a community-based ride-sharing platform designed to solve the growing problem of transportation accessibility, affordability, and safety. In many regions, especially semi-urban and rural areas, public transport services such as buses and autos are either limited or unreliable. At the same time, a large number of private vehicles travel daily with empty seats, leading to inefficient resource utilization and increased fuel consumption.</a:t>
            </a:r>
            <a:endParaRPr lang="en-US" sz="1900" dirty="0"/>
          </a:p>
        </p:txBody>
      </p:sp>
      <p:sp>
        <p:nvSpPr>
          <p:cNvPr id="5" name="Text 3"/>
          <p:cNvSpPr/>
          <p:nvPr/>
        </p:nvSpPr>
        <p:spPr>
          <a:xfrm>
            <a:off x="1072396" y="4111109"/>
            <a:ext cx="12485489" cy="1973461"/>
          </a:xfrm>
          <a:prstGeom prst="rect">
            <a:avLst/>
          </a:prstGeom>
          <a:noFill/>
          <a:ln/>
        </p:spPr>
        <p:txBody>
          <a:bodyPr wrap="square" lIns="0" tIns="0" rIns="0" bIns="0" rtlCol="0" anchor="t"/>
          <a:lstStyle/>
          <a:p>
            <a:pPr marL="0" indent="0" algn="l">
              <a:lnSpc>
                <a:spcPts val="3100"/>
              </a:lnSpc>
              <a:buNone/>
            </a:pPr>
            <a:r>
              <a:rPr lang="en-US" sz="1900" dirty="0">
                <a:solidFill>
                  <a:srgbClr val="2C2926"/>
                </a:solidFill>
                <a:latin typeface="Inter" pitchFamily="34" charset="0"/>
                <a:ea typeface="Inter" pitchFamily="34" charset="-122"/>
                <a:cs typeface="Inter" pitchFamily="34" charset="-120"/>
              </a:rPr>
              <a:t>This system connects drivers who already own vehicles with passengers who are travelling on the same route. Drivers can post their trip details such as source, destination, date, time, and available seats, whilst passengers can search for suitable rides and book seats instantly. With features like user verification, driver authenticity checks, real-time notifications, ratings, and feedback, the platform ensures a secure and trustworthy environment.</a:t>
            </a:r>
            <a:endParaRPr lang="en-US" sz="1900" dirty="0"/>
          </a:p>
        </p:txBody>
      </p:sp>
      <p:sp>
        <p:nvSpPr>
          <p:cNvPr id="6" name="Text 4"/>
          <p:cNvSpPr/>
          <p:nvPr/>
        </p:nvSpPr>
        <p:spPr>
          <a:xfrm>
            <a:off x="1072396" y="6306622"/>
            <a:ext cx="12485489" cy="1184077"/>
          </a:xfrm>
          <a:prstGeom prst="rect">
            <a:avLst/>
          </a:prstGeom>
          <a:noFill/>
          <a:ln/>
        </p:spPr>
        <p:txBody>
          <a:bodyPr wrap="square" lIns="0" tIns="0" rIns="0" bIns="0" rtlCol="0" anchor="t"/>
          <a:lstStyle/>
          <a:p>
            <a:pPr marL="0" indent="0" algn="l">
              <a:lnSpc>
                <a:spcPts val="3100"/>
              </a:lnSpc>
              <a:buNone/>
            </a:pPr>
            <a:r>
              <a:rPr lang="en-US" sz="1900" dirty="0">
                <a:solidFill>
                  <a:srgbClr val="2C2926"/>
                </a:solidFill>
                <a:latin typeface="Inter" pitchFamily="34" charset="0"/>
                <a:ea typeface="Inter" pitchFamily="34" charset="-122"/>
                <a:cs typeface="Inter" pitchFamily="34" charset="-120"/>
              </a:rPr>
              <a:t>The project not only reduces travel costs and saves time for users but also promotes eco-friendly transportation by minimising fuel wastage and traffic congestion. Yavij Express aims to provide a reliable, economical, and user-friendly solution for daily commuting as well as long-distance travel.</a:t>
            </a:r>
            <a:endParaRPr lang="en-US" sz="1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2361" y="850463"/>
            <a:ext cx="2876193" cy="353735"/>
          </a:xfrm>
          <a:prstGeom prst="rect">
            <a:avLst/>
          </a:prstGeom>
          <a:noFill/>
          <a:ln/>
        </p:spPr>
        <p:txBody>
          <a:bodyPr wrap="none" lIns="0" tIns="0" rIns="0" bIns="0" rtlCol="0" anchor="t"/>
          <a:lstStyle/>
          <a:p>
            <a:pPr marL="0" indent="0" algn="l">
              <a:lnSpc>
                <a:spcPts val="2750"/>
              </a:lnSpc>
              <a:buNone/>
            </a:pPr>
            <a:r>
              <a:rPr lang="en-US" sz="2200" dirty="0">
                <a:solidFill>
                  <a:srgbClr val="DFAB58"/>
                </a:solidFill>
                <a:latin typeface="Bricolage Grotesque Semi Bold" pitchFamily="34" charset="0"/>
                <a:ea typeface="Bricolage Grotesque Semi Bold" pitchFamily="34" charset="-122"/>
                <a:cs typeface="Bricolage Grotesque Semi Bold" pitchFamily="34" charset="-120"/>
              </a:rPr>
              <a:t>1. Problem Statement</a:t>
            </a:r>
            <a:endParaRPr lang="en-US" sz="2200" dirty="0"/>
          </a:p>
        </p:txBody>
      </p:sp>
      <p:sp>
        <p:nvSpPr>
          <p:cNvPr id="5" name="Text 2"/>
          <p:cNvSpPr/>
          <p:nvPr/>
        </p:nvSpPr>
        <p:spPr>
          <a:xfrm>
            <a:off x="792361" y="1294686"/>
            <a:ext cx="10464760" cy="707469"/>
          </a:xfrm>
          <a:prstGeom prst="rect">
            <a:avLst/>
          </a:prstGeom>
          <a:noFill/>
          <a:ln/>
        </p:spPr>
        <p:txBody>
          <a:bodyPr wrap="non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Addressing Transportation Challenges</a:t>
            </a:r>
            <a:endParaRPr lang="en-US" sz="4450" dirty="0"/>
          </a:p>
        </p:txBody>
      </p:sp>
      <p:sp>
        <p:nvSpPr>
          <p:cNvPr id="6" name="Text 3"/>
          <p:cNvSpPr/>
          <p:nvPr/>
        </p:nvSpPr>
        <p:spPr>
          <a:xfrm>
            <a:off x="792361" y="2341721"/>
            <a:ext cx="13045678" cy="1811179"/>
          </a:xfrm>
          <a:prstGeom prst="rect">
            <a:avLst/>
          </a:prstGeom>
          <a:noFill/>
          <a:ln/>
        </p:spPr>
        <p:txBody>
          <a:bodyPr wrap="square" lIns="0" tIns="0" rIns="0" bIns="0" rtlCol="0" anchor="t"/>
          <a:lstStyle/>
          <a:p>
            <a:pPr marL="0" indent="0" algn="l">
              <a:lnSpc>
                <a:spcPts val="3550"/>
              </a:lnSpc>
              <a:buNone/>
            </a:pPr>
            <a:r>
              <a:rPr lang="en-US" sz="2200" dirty="0">
                <a:solidFill>
                  <a:srgbClr val="2C2926"/>
                </a:solidFill>
                <a:latin typeface="Inter" pitchFamily="34" charset="0"/>
                <a:ea typeface="Inter" pitchFamily="34" charset="-122"/>
                <a:cs typeface="Inter" pitchFamily="34" charset="-120"/>
              </a:rPr>
              <a:t>In today's transportation system, many people fac</a:t>
            </a:r>
            <a:r>
              <a:rPr lang="en-US" sz="2200" b="1" dirty="0">
                <a:solidFill>
                  <a:srgbClr val="2C2926"/>
                </a:solidFill>
                <a:latin typeface="Inter" pitchFamily="34" charset="0"/>
                <a:ea typeface="Inter" pitchFamily="34" charset="-122"/>
                <a:cs typeface="Inter" pitchFamily="34" charset="-120"/>
              </a:rPr>
              <a:t>e </a:t>
            </a:r>
            <a:r>
              <a:rPr lang="en-US" sz="2200" dirty="0">
                <a:solidFill>
                  <a:srgbClr val="2C2926"/>
                </a:solidFill>
                <a:latin typeface="Inter" pitchFamily="34" charset="0"/>
                <a:ea typeface="Inter" pitchFamily="34" charset="-122"/>
                <a:cs typeface="Inter" pitchFamily="34" charset="-120"/>
              </a:rPr>
              <a:t>difficulties such as high travel costs, lack of availability of public transport, safety concerns, and unverified drivers. Wh</a:t>
            </a:r>
            <a:r>
              <a:rPr lang="en-US" sz="2200" b="1" dirty="0">
                <a:solidFill>
                  <a:srgbClr val="2C2926"/>
                </a:solidFill>
                <a:latin typeface="Inter" pitchFamily="34" charset="0"/>
                <a:ea typeface="Inter" pitchFamily="34" charset="-122"/>
                <a:cs typeface="Inter" pitchFamily="34" charset="-120"/>
              </a:rPr>
              <a:t>ilst some </a:t>
            </a:r>
            <a:r>
              <a:rPr lang="en-US" sz="2200" dirty="0">
                <a:solidFill>
                  <a:srgbClr val="2C2926"/>
                </a:solidFill>
                <a:latin typeface="Inter" pitchFamily="34" charset="0"/>
                <a:ea typeface="Inter" pitchFamily="34" charset="-122"/>
                <a:cs typeface="Inter" pitchFamily="34" charset="-120"/>
              </a:rPr>
              <a:t>commuters struggle to find affordable rides, many vehicle owners travel with unused seating capacity. This imbalance results in increased expenses, fuel wastage, and unnecessary environmental pollution.</a:t>
            </a:r>
            <a:endParaRPr lang="en-US" sz="2200" dirty="0"/>
          </a:p>
        </p:txBody>
      </p:sp>
      <p:sp>
        <p:nvSpPr>
          <p:cNvPr id="7" name="Text 4"/>
          <p:cNvSpPr/>
          <p:nvPr/>
        </p:nvSpPr>
        <p:spPr>
          <a:xfrm>
            <a:off x="792361" y="4407575"/>
            <a:ext cx="13045678" cy="1358384"/>
          </a:xfrm>
          <a:prstGeom prst="rect">
            <a:avLst/>
          </a:prstGeom>
          <a:noFill/>
          <a:ln/>
        </p:spPr>
        <p:txBody>
          <a:bodyPr wrap="square" lIns="0" tIns="0" rIns="0" bIns="0" rtlCol="0" anchor="t"/>
          <a:lstStyle/>
          <a:p>
            <a:pPr marL="0" indent="0" algn="l">
              <a:lnSpc>
                <a:spcPts val="3550"/>
              </a:lnSpc>
              <a:buNone/>
            </a:pPr>
            <a:r>
              <a:rPr lang="en-US" sz="2200" dirty="0">
                <a:solidFill>
                  <a:srgbClr val="2C2926"/>
                </a:solidFill>
                <a:latin typeface="Inter" pitchFamily="34" charset="0"/>
                <a:ea typeface="Inter" pitchFamily="34" charset="-122"/>
                <a:cs typeface="Inter" pitchFamily="34" charset="-120"/>
              </a:rPr>
              <a:t>Existing ride-hailing services often focus on commercial drivers and can be costly for daily travellers such as students and office workers. There is a strong need for a community-driven platform that allows people to share rides safely and economically.</a:t>
            </a:r>
            <a:endParaRPr lang="en-US" sz="2200" dirty="0"/>
          </a:p>
        </p:txBody>
      </p:sp>
      <p:sp>
        <p:nvSpPr>
          <p:cNvPr id="8" name="Text 5"/>
          <p:cNvSpPr/>
          <p:nvPr/>
        </p:nvSpPr>
        <p:spPr>
          <a:xfrm>
            <a:off x="792361" y="6020633"/>
            <a:ext cx="13045678" cy="1358384"/>
          </a:xfrm>
          <a:prstGeom prst="rect">
            <a:avLst/>
          </a:prstGeom>
          <a:noFill/>
          <a:ln/>
        </p:spPr>
        <p:txBody>
          <a:bodyPr wrap="square" lIns="0" tIns="0" rIns="0" bIns="0" rtlCol="0" anchor="t"/>
          <a:lstStyle/>
          <a:p>
            <a:pPr marL="0" indent="0" algn="l">
              <a:lnSpc>
                <a:spcPts val="3550"/>
              </a:lnSpc>
              <a:buNone/>
            </a:pPr>
            <a:r>
              <a:rPr lang="en-US" sz="2200" dirty="0">
                <a:solidFill>
                  <a:srgbClr val="2C2926"/>
                </a:solidFill>
                <a:latin typeface="Inter" pitchFamily="34" charset="0"/>
                <a:ea typeface="Inter" pitchFamily="34" charset="-122"/>
                <a:cs typeface="Inter" pitchFamily="34" charset="-120"/>
              </a:rPr>
              <a:t>Yavij Express addresses this gap by providing a digital platform that connects drivers and passengers directly, ensuring verified users, transparent pricing, and a smooth booking experience.</a:t>
            </a:r>
            <a:endParaRPr lang="en-US" sz="2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207538" y="444937"/>
            <a:ext cx="2546747" cy="252413"/>
          </a:xfrm>
          <a:prstGeom prst="rect">
            <a:avLst/>
          </a:prstGeom>
          <a:noFill/>
          <a:ln/>
        </p:spPr>
        <p:txBody>
          <a:bodyPr wrap="none" lIns="0" tIns="0" rIns="0" bIns="0" rtlCol="0" anchor="t"/>
          <a:lstStyle/>
          <a:p>
            <a:pPr marL="0" indent="0" algn="l">
              <a:lnSpc>
                <a:spcPts val="1950"/>
              </a:lnSpc>
              <a:buNone/>
            </a:pPr>
            <a:r>
              <a:rPr lang="en-US" sz="1550" dirty="0">
                <a:solidFill>
                  <a:srgbClr val="E7BF6A"/>
                </a:solidFill>
                <a:latin typeface="Bricolage Grotesque Semi Bold" pitchFamily="34" charset="0"/>
                <a:ea typeface="Bricolage Grotesque Semi Bold" pitchFamily="34" charset="-122"/>
                <a:cs typeface="Bricolage Grotesque Semi Bold" pitchFamily="34" charset="-120"/>
              </a:rPr>
              <a:t>1. Objectives of the Project</a:t>
            </a:r>
            <a:endParaRPr lang="en-US" sz="1550" dirty="0"/>
          </a:p>
        </p:txBody>
      </p:sp>
      <p:sp>
        <p:nvSpPr>
          <p:cNvPr id="3" name="Text 1"/>
          <p:cNvSpPr/>
          <p:nvPr/>
        </p:nvSpPr>
        <p:spPr>
          <a:xfrm>
            <a:off x="2207538" y="761881"/>
            <a:ext cx="6723459" cy="403741"/>
          </a:xfrm>
          <a:prstGeom prst="rect">
            <a:avLst/>
          </a:prstGeom>
          <a:noFill/>
          <a:ln/>
        </p:spPr>
        <p:txBody>
          <a:bodyPr wrap="none" lIns="0" tIns="0" rIns="0" bIns="0" rtlCol="0" anchor="t"/>
          <a:lstStyle/>
          <a:p>
            <a:pPr marL="0" indent="0" algn="l">
              <a:lnSpc>
                <a:spcPts val="3150"/>
              </a:lnSpc>
              <a:buNone/>
            </a:pPr>
            <a:r>
              <a:rPr lang="en-US" sz="2500" dirty="0">
                <a:solidFill>
                  <a:srgbClr val="2C2926"/>
                </a:solidFill>
                <a:latin typeface="Bricolage Grotesque Semi Bold" pitchFamily="34" charset="0"/>
                <a:ea typeface="Bricolage Grotesque Semi Bold" pitchFamily="34" charset="-122"/>
                <a:cs typeface="Bricolage Grotesque Semi Bold" pitchFamily="34" charset="-120"/>
              </a:rPr>
              <a:t>Building a Secure and Sustainable Platform</a:t>
            </a:r>
            <a:endParaRPr lang="en-US" sz="2500" dirty="0"/>
          </a:p>
        </p:txBody>
      </p:sp>
      <p:sp>
        <p:nvSpPr>
          <p:cNvPr id="4" name="Text 2"/>
          <p:cNvSpPr/>
          <p:nvPr/>
        </p:nvSpPr>
        <p:spPr>
          <a:xfrm>
            <a:off x="2207538" y="1407795"/>
            <a:ext cx="10215205" cy="323017"/>
          </a:xfrm>
          <a:prstGeom prst="rect">
            <a:avLst/>
          </a:prstGeom>
          <a:noFill/>
          <a:ln/>
        </p:spPr>
        <p:txBody>
          <a:bodyPr wrap="non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The main objectives of Yavij Express are:</a:t>
            </a:r>
            <a:endParaRPr lang="en-US" sz="1550" dirty="0"/>
          </a:p>
        </p:txBody>
      </p:sp>
      <p:sp>
        <p:nvSpPr>
          <p:cNvPr id="5" name="Shape 3"/>
          <p:cNvSpPr/>
          <p:nvPr/>
        </p:nvSpPr>
        <p:spPr>
          <a:xfrm>
            <a:off x="2207538" y="1912501"/>
            <a:ext cx="5026819" cy="1849755"/>
          </a:xfrm>
          <a:prstGeom prst="roundRect">
            <a:avLst>
              <a:gd name="adj" fmla="val 3667"/>
            </a:avLst>
          </a:prstGeom>
          <a:solidFill>
            <a:srgbClr val="FFFFFF"/>
          </a:solidFill>
          <a:ln w="7620">
            <a:solidFill>
              <a:srgbClr val="F8ECD3"/>
            </a:solidFill>
            <a:prstDash val="solid"/>
          </a:ln>
        </p:spPr>
      </p:sp>
      <p:pic>
        <p:nvPicPr>
          <p:cNvPr id="6" name="Image 0" descr="preencoded.png"/>
          <p:cNvPicPr>
            <a:picLocks noChangeAspect="1"/>
          </p:cNvPicPr>
          <p:nvPr/>
        </p:nvPicPr>
        <p:blipFill>
          <a:blip r:embed="rId3"/>
          <a:stretch>
            <a:fillRect/>
          </a:stretch>
        </p:blipFill>
        <p:spPr>
          <a:xfrm>
            <a:off x="2376607" y="2081570"/>
            <a:ext cx="484465" cy="48446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2509838" y="2214801"/>
            <a:ext cx="218003" cy="218003"/>
          </a:xfrm>
          <a:prstGeom prst="rect">
            <a:avLst/>
          </a:prstGeom>
        </p:spPr>
      </p:pic>
      <p:sp>
        <p:nvSpPr>
          <p:cNvPr id="8" name="Text 4"/>
          <p:cNvSpPr/>
          <p:nvPr/>
        </p:nvSpPr>
        <p:spPr>
          <a:xfrm>
            <a:off x="2376607" y="2727484"/>
            <a:ext cx="2032873"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Security &amp; Reliability</a:t>
            </a:r>
            <a:endParaRPr lang="en-US" sz="1550" dirty="0"/>
          </a:p>
        </p:txBody>
      </p:sp>
      <p:sp>
        <p:nvSpPr>
          <p:cNvPr id="9" name="Text 5"/>
          <p:cNvSpPr/>
          <p:nvPr/>
        </p:nvSpPr>
        <p:spPr>
          <a:xfrm>
            <a:off x="2376607" y="3076694"/>
            <a:ext cx="4688681" cy="516493"/>
          </a:xfrm>
          <a:prstGeom prst="rect">
            <a:avLst/>
          </a:prstGeom>
          <a:noFill/>
          <a:ln/>
        </p:spPr>
        <p:txBody>
          <a:bodyPr wrap="squar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provide a secure and reliable ride-sharing platform for daily and long-distance travel.</a:t>
            </a:r>
            <a:endParaRPr lang="en-US" sz="1250" dirty="0"/>
          </a:p>
        </p:txBody>
      </p:sp>
      <p:sp>
        <p:nvSpPr>
          <p:cNvPr id="10" name="Shape 6"/>
          <p:cNvSpPr/>
          <p:nvPr/>
        </p:nvSpPr>
        <p:spPr>
          <a:xfrm>
            <a:off x="7395805" y="1912501"/>
            <a:ext cx="5026938" cy="1849755"/>
          </a:xfrm>
          <a:prstGeom prst="roundRect">
            <a:avLst>
              <a:gd name="adj" fmla="val 3667"/>
            </a:avLst>
          </a:prstGeom>
          <a:solidFill>
            <a:srgbClr val="FFFFFF"/>
          </a:solidFill>
          <a:ln w="7620">
            <a:solidFill>
              <a:srgbClr val="F8ECD3"/>
            </a:solidFill>
            <a:prstDash val="solid"/>
          </a:ln>
        </p:spPr>
      </p:sp>
      <p:pic>
        <p:nvPicPr>
          <p:cNvPr id="11" name="Image 2" descr="preencoded.png"/>
          <p:cNvPicPr>
            <a:picLocks noChangeAspect="1"/>
          </p:cNvPicPr>
          <p:nvPr/>
        </p:nvPicPr>
        <p:blipFill>
          <a:blip r:embed="rId6"/>
          <a:stretch>
            <a:fillRect/>
          </a:stretch>
        </p:blipFill>
        <p:spPr>
          <a:xfrm>
            <a:off x="7564874" y="2081570"/>
            <a:ext cx="484465" cy="484465"/>
          </a:xfrm>
          <a:prstGeom prst="rect">
            <a:avLst/>
          </a:prstGeom>
        </p:spPr>
      </p:pic>
      <p:pic>
        <p:nvPicPr>
          <p:cNvPr id="12"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7698105" y="2214801"/>
            <a:ext cx="218003" cy="218003"/>
          </a:xfrm>
          <a:prstGeom prst="rect">
            <a:avLst/>
          </a:prstGeom>
        </p:spPr>
      </p:pic>
      <p:sp>
        <p:nvSpPr>
          <p:cNvPr id="13" name="Text 7"/>
          <p:cNvSpPr/>
          <p:nvPr/>
        </p:nvSpPr>
        <p:spPr>
          <a:xfrm>
            <a:off x="7564874" y="2727484"/>
            <a:ext cx="2018824"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Cost Reduction</a:t>
            </a:r>
            <a:endParaRPr lang="en-US" sz="1550" dirty="0"/>
          </a:p>
        </p:txBody>
      </p:sp>
      <p:sp>
        <p:nvSpPr>
          <p:cNvPr id="14" name="Text 8"/>
          <p:cNvSpPr/>
          <p:nvPr/>
        </p:nvSpPr>
        <p:spPr>
          <a:xfrm>
            <a:off x="7564874" y="3076694"/>
            <a:ext cx="4688800" cy="258247"/>
          </a:xfrm>
          <a:prstGeom prst="rect">
            <a:avLst/>
          </a:prstGeom>
          <a:noFill/>
          <a:ln/>
        </p:spPr>
        <p:txBody>
          <a:bodyPr wrap="non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reduce travel costs for passengers through shared rides.</a:t>
            </a:r>
            <a:endParaRPr lang="en-US" sz="1250" dirty="0"/>
          </a:p>
        </p:txBody>
      </p:sp>
      <p:sp>
        <p:nvSpPr>
          <p:cNvPr id="15" name="Shape 9"/>
          <p:cNvSpPr/>
          <p:nvPr/>
        </p:nvSpPr>
        <p:spPr>
          <a:xfrm>
            <a:off x="2207538" y="3923705"/>
            <a:ext cx="5026819" cy="1849755"/>
          </a:xfrm>
          <a:prstGeom prst="roundRect">
            <a:avLst>
              <a:gd name="adj" fmla="val 3667"/>
            </a:avLst>
          </a:prstGeom>
          <a:solidFill>
            <a:srgbClr val="FFFFFF"/>
          </a:solidFill>
          <a:ln w="7620">
            <a:solidFill>
              <a:srgbClr val="F8ECD3"/>
            </a:solidFill>
            <a:prstDash val="solid"/>
          </a:ln>
        </p:spPr>
      </p:sp>
      <p:pic>
        <p:nvPicPr>
          <p:cNvPr id="16" name="Image 4" descr="preencoded.png"/>
          <p:cNvPicPr>
            <a:picLocks noChangeAspect="1"/>
          </p:cNvPicPr>
          <p:nvPr/>
        </p:nvPicPr>
        <p:blipFill>
          <a:blip r:embed="rId8"/>
          <a:stretch>
            <a:fillRect/>
          </a:stretch>
        </p:blipFill>
        <p:spPr>
          <a:xfrm>
            <a:off x="2376607" y="4092773"/>
            <a:ext cx="484465" cy="484465"/>
          </a:xfrm>
          <a:prstGeom prst="rect">
            <a:avLst/>
          </a:prstGeom>
        </p:spPr>
      </p:pic>
      <p:pic>
        <p:nvPicPr>
          <p:cNvPr id="17" name="Image 5"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2509838" y="4226004"/>
            <a:ext cx="218003" cy="218003"/>
          </a:xfrm>
          <a:prstGeom prst="rect">
            <a:avLst/>
          </a:prstGeom>
        </p:spPr>
      </p:pic>
      <p:sp>
        <p:nvSpPr>
          <p:cNvPr id="18" name="Text 10"/>
          <p:cNvSpPr/>
          <p:nvPr/>
        </p:nvSpPr>
        <p:spPr>
          <a:xfrm>
            <a:off x="2376607" y="4738688"/>
            <a:ext cx="2018824"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User Verification</a:t>
            </a:r>
            <a:endParaRPr lang="en-US" sz="1550" dirty="0"/>
          </a:p>
        </p:txBody>
      </p:sp>
      <p:sp>
        <p:nvSpPr>
          <p:cNvPr id="19" name="Text 11"/>
          <p:cNvSpPr/>
          <p:nvPr/>
        </p:nvSpPr>
        <p:spPr>
          <a:xfrm>
            <a:off x="2376607" y="5087898"/>
            <a:ext cx="4688681" cy="516493"/>
          </a:xfrm>
          <a:prstGeom prst="rect">
            <a:avLst/>
          </a:prstGeom>
          <a:noFill/>
          <a:ln/>
        </p:spPr>
        <p:txBody>
          <a:bodyPr wrap="squar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ensure driver and user authenticity using verification mechanisms.</a:t>
            </a:r>
            <a:endParaRPr lang="en-US" sz="1250" dirty="0"/>
          </a:p>
        </p:txBody>
      </p:sp>
      <p:sp>
        <p:nvSpPr>
          <p:cNvPr id="20" name="Shape 12"/>
          <p:cNvSpPr/>
          <p:nvPr/>
        </p:nvSpPr>
        <p:spPr>
          <a:xfrm>
            <a:off x="7395805" y="3923705"/>
            <a:ext cx="5026938" cy="1849755"/>
          </a:xfrm>
          <a:prstGeom prst="roundRect">
            <a:avLst>
              <a:gd name="adj" fmla="val 3667"/>
            </a:avLst>
          </a:prstGeom>
          <a:solidFill>
            <a:srgbClr val="FFFFFF"/>
          </a:solidFill>
          <a:ln w="7620">
            <a:solidFill>
              <a:srgbClr val="F8ECD3"/>
            </a:solidFill>
            <a:prstDash val="solid"/>
          </a:ln>
        </p:spPr>
      </p:sp>
      <p:pic>
        <p:nvPicPr>
          <p:cNvPr id="21" name="Image 6" descr="preencoded.png"/>
          <p:cNvPicPr>
            <a:picLocks noChangeAspect="1"/>
          </p:cNvPicPr>
          <p:nvPr/>
        </p:nvPicPr>
        <p:blipFill>
          <a:blip r:embed="rId10"/>
          <a:stretch>
            <a:fillRect/>
          </a:stretch>
        </p:blipFill>
        <p:spPr>
          <a:xfrm>
            <a:off x="7564874" y="4092773"/>
            <a:ext cx="484465" cy="484465"/>
          </a:xfrm>
          <a:prstGeom prst="rect">
            <a:avLst/>
          </a:prstGeom>
        </p:spPr>
      </p:pic>
      <p:pic>
        <p:nvPicPr>
          <p:cNvPr id="22" name="Image 7" descr="preencoded.png"/>
          <p:cNvPicPr>
            <a:picLocks noChangeAspect="1"/>
          </p:cNvPicPr>
          <p:nvPr/>
        </p:nvPicPr>
        <p:blipFill>
          <a:blip r:embed="rId4">
            <a:extLst>
              <a:ext uri="{96DAC541-7B7A-43D3-8B79-37D633B846F1}">
                <asvg:svgBlip xmlns:asvg="http://schemas.microsoft.com/office/drawing/2016/SVG/main" xmlns="" r:embed="rId12"/>
              </a:ext>
            </a:extLst>
          </a:blip>
          <a:stretch>
            <a:fillRect/>
          </a:stretch>
        </p:blipFill>
        <p:spPr>
          <a:xfrm>
            <a:off x="7698105" y="4226004"/>
            <a:ext cx="218003" cy="218003"/>
          </a:xfrm>
          <a:prstGeom prst="rect">
            <a:avLst/>
          </a:prstGeom>
        </p:spPr>
      </p:pic>
      <p:sp>
        <p:nvSpPr>
          <p:cNvPr id="23" name="Text 13"/>
          <p:cNvSpPr/>
          <p:nvPr/>
        </p:nvSpPr>
        <p:spPr>
          <a:xfrm>
            <a:off x="7564874" y="4738688"/>
            <a:ext cx="2232660"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Eco-Friendly Transport</a:t>
            </a:r>
            <a:endParaRPr lang="en-US" sz="1550" dirty="0"/>
          </a:p>
        </p:txBody>
      </p:sp>
      <p:sp>
        <p:nvSpPr>
          <p:cNvPr id="24" name="Text 14"/>
          <p:cNvSpPr/>
          <p:nvPr/>
        </p:nvSpPr>
        <p:spPr>
          <a:xfrm>
            <a:off x="7564874" y="5087898"/>
            <a:ext cx="4688800" cy="516493"/>
          </a:xfrm>
          <a:prstGeom prst="rect">
            <a:avLst/>
          </a:prstGeom>
          <a:noFill/>
          <a:ln/>
        </p:spPr>
        <p:txBody>
          <a:bodyPr wrap="squar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promote eco-friendly transportation by minimising empty seats in vehicles.</a:t>
            </a:r>
            <a:endParaRPr lang="en-US" sz="1250" dirty="0"/>
          </a:p>
        </p:txBody>
      </p:sp>
      <p:sp>
        <p:nvSpPr>
          <p:cNvPr id="25" name="Shape 15"/>
          <p:cNvSpPr/>
          <p:nvPr/>
        </p:nvSpPr>
        <p:spPr>
          <a:xfrm>
            <a:off x="2207538" y="5934908"/>
            <a:ext cx="5026819" cy="1849755"/>
          </a:xfrm>
          <a:prstGeom prst="roundRect">
            <a:avLst>
              <a:gd name="adj" fmla="val 3667"/>
            </a:avLst>
          </a:prstGeom>
          <a:solidFill>
            <a:srgbClr val="FFFFFF"/>
          </a:solidFill>
          <a:ln w="7620">
            <a:solidFill>
              <a:srgbClr val="F8ECD3"/>
            </a:solidFill>
            <a:prstDash val="solid"/>
          </a:ln>
        </p:spPr>
      </p:sp>
      <p:pic>
        <p:nvPicPr>
          <p:cNvPr id="26" name="Image 8" descr="preencoded.png"/>
          <p:cNvPicPr>
            <a:picLocks noChangeAspect="1"/>
          </p:cNvPicPr>
          <p:nvPr/>
        </p:nvPicPr>
        <p:blipFill>
          <a:blip r:embed="rId13"/>
          <a:stretch>
            <a:fillRect/>
          </a:stretch>
        </p:blipFill>
        <p:spPr>
          <a:xfrm>
            <a:off x="2376607" y="6103977"/>
            <a:ext cx="484465" cy="484465"/>
          </a:xfrm>
          <a:prstGeom prst="rect">
            <a:avLst/>
          </a:prstGeom>
        </p:spPr>
      </p:pic>
      <p:pic>
        <p:nvPicPr>
          <p:cNvPr id="27" name="Image 9" descr="preencoded.png"/>
          <p:cNvPicPr>
            <a:picLocks noChangeAspect="1"/>
          </p:cNvPicPr>
          <p:nvPr/>
        </p:nvPicPr>
        <p:blipFill>
          <a:blip r:embed="rId4">
            <a:extLst>
              <a:ext uri="{96DAC541-7B7A-43D3-8B79-37D633B846F1}">
                <asvg:svgBlip xmlns:asvg="http://schemas.microsoft.com/office/drawing/2016/SVG/main" xmlns="" r:embed="rId15"/>
              </a:ext>
            </a:extLst>
          </a:blip>
          <a:stretch>
            <a:fillRect/>
          </a:stretch>
        </p:blipFill>
        <p:spPr>
          <a:xfrm>
            <a:off x="2509838" y="6237208"/>
            <a:ext cx="218003" cy="218003"/>
          </a:xfrm>
          <a:prstGeom prst="rect">
            <a:avLst/>
          </a:prstGeom>
        </p:spPr>
      </p:pic>
      <p:sp>
        <p:nvSpPr>
          <p:cNvPr id="28" name="Text 16"/>
          <p:cNvSpPr/>
          <p:nvPr/>
        </p:nvSpPr>
        <p:spPr>
          <a:xfrm>
            <a:off x="2376607" y="6749891"/>
            <a:ext cx="2018824"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Community Building</a:t>
            </a:r>
            <a:endParaRPr lang="en-US" sz="1550" dirty="0"/>
          </a:p>
        </p:txBody>
      </p:sp>
      <p:sp>
        <p:nvSpPr>
          <p:cNvPr id="29" name="Text 17"/>
          <p:cNvSpPr/>
          <p:nvPr/>
        </p:nvSpPr>
        <p:spPr>
          <a:xfrm>
            <a:off x="2376607" y="7099102"/>
            <a:ext cx="4688681" cy="516493"/>
          </a:xfrm>
          <a:prstGeom prst="rect">
            <a:avLst/>
          </a:prstGeom>
          <a:noFill/>
          <a:ln/>
        </p:spPr>
        <p:txBody>
          <a:bodyPr wrap="squar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build a community-driven system that encourages cooperation and trust.</a:t>
            </a:r>
            <a:endParaRPr lang="en-US" sz="1250" dirty="0"/>
          </a:p>
        </p:txBody>
      </p:sp>
      <p:sp>
        <p:nvSpPr>
          <p:cNvPr id="30" name="Shape 18"/>
          <p:cNvSpPr/>
          <p:nvPr/>
        </p:nvSpPr>
        <p:spPr>
          <a:xfrm>
            <a:off x="7395805" y="5934908"/>
            <a:ext cx="5026938" cy="1849755"/>
          </a:xfrm>
          <a:prstGeom prst="roundRect">
            <a:avLst>
              <a:gd name="adj" fmla="val 3667"/>
            </a:avLst>
          </a:prstGeom>
          <a:solidFill>
            <a:srgbClr val="FFFFFF"/>
          </a:solidFill>
          <a:ln w="7620">
            <a:solidFill>
              <a:srgbClr val="F8ECD3"/>
            </a:solidFill>
            <a:prstDash val="solid"/>
          </a:ln>
        </p:spPr>
      </p:sp>
      <p:pic>
        <p:nvPicPr>
          <p:cNvPr id="31" name="Image 10" descr="preencoded.png"/>
          <p:cNvPicPr>
            <a:picLocks noChangeAspect="1"/>
          </p:cNvPicPr>
          <p:nvPr/>
        </p:nvPicPr>
        <p:blipFill>
          <a:blip r:embed="rId16"/>
          <a:stretch>
            <a:fillRect/>
          </a:stretch>
        </p:blipFill>
        <p:spPr>
          <a:xfrm>
            <a:off x="7564874" y="6103977"/>
            <a:ext cx="484465" cy="484465"/>
          </a:xfrm>
          <a:prstGeom prst="rect">
            <a:avLst/>
          </a:prstGeom>
        </p:spPr>
      </p:pic>
      <p:pic>
        <p:nvPicPr>
          <p:cNvPr id="32" name="Image 11" descr="preencoded.png"/>
          <p:cNvPicPr>
            <a:picLocks noChangeAspect="1"/>
          </p:cNvPicPr>
          <p:nvPr/>
        </p:nvPicPr>
        <p:blipFill>
          <a:blip r:embed="rId4">
            <a:extLst>
              <a:ext uri="{96DAC541-7B7A-43D3-8B79-37D633B846F1}">
                <asvg:svgBlip xmlns:asvg="http://schemas.microsoft.com/office/drawing/2016/SVG/main" xmlns="" r:embed="rId18"/>
              </a:ext>
            </a:extLst>
          </a:blip>
          <a:stretch>
            <a:fillRect/>
          </a:stretch>
        </p:blipFill>
        <p:spPr>
          <a:xfrm>
            <a:off x="7698105" y="6237208"/>
            <a:ext cx="218003" cy="218003"/>
          </a:xfrm>
          <a:prstGeom prst="rect">
            <a:avLst/>
          </a:prstGeom>
        </p:spPr>
      </p:pic>
      <p:sp>
        <p:nvSpPr>
          <p:cNvPr id="33" name="Text 19"/>
          <p:cNvSpPr/>
          <p:nvPr/>
        </p:nvSpPr>
        <p:spPr>
          <a:xfrm>
            <a:off x="7564874" y="6749891"/>
            <a:ext cx="2018824" cy="252413"/>
          </a:xfrm>
          <a:prstGeom prst="rect">
            <a:avLst/>
          </a:prstGeom>
          <a:noFill/>
          <a:ln/>
        </p:spPr>
        <p:txBody>
          <a:bodyPr wrap="none" lIns="0" tIns="0" rIns="0" bIns="0" rtlCol="0" anchor="t"/>
          <a:lstStyle/>
          <a:p>
            <a:pPr marL="0" indent="0" algn="l">
              <a:lnSpc>
                <a:spcPts val="1950"/>
              </a:lnSpc>
              <a:buNone/>
            </a:pPr>
            <a:r>
              <a:rPr lang="en-US" sz="1550" dirty="0">
                <a:solidFill>
                  <a:srgbClr val="2C2926"/>
                </a:solidFill>
                <a:latin typeface="Bricolage Grotesque Semi Bold" pitchFamily="34" charset="0"/>
                <a:ea typeface="Bricolage Grotesque Semi Bold" pitchFamily="34" charset="-122"/>
                <a:cs typeface="Bricolage Grotesque Semi Bold" pitchFamily="34" charset="-120"/>
              </a:rPr>
              <a:t>Modern Solution</a:t>
            </a:r>
            <a:endParaRPr lang="en-US" sz="1550" dirty="0"/>
          </a:p>
        </p:txBody>
      </p:sp>
      <p:sp>
        <p:nvSpPr>
          <p:cNvPr id="34" name="Text 20"/>
          <p:cNvSpPr/>
          <p:nvPr/>
        </p:nvSpPr>
        <p:spPr>
          <a:xfrm>
            <a:off x="7564874" y="7099102"/>
            <a:ext cx="4688800" cy="516493"/>
          </a:xfrm>
          <a:prstGeom prst="rect">
            <a:avLst/>
          </a:prstGeom>
          <a:noFill/>
          <a:ln/>
        </p:spPr>
        <p:txBody>
          <a:bodyPr wrap="square" lIns="0" tIns="0" rIns="0" bIns="0" rtlCol="0" anchor="t"/>
          <a:lstStyle/>
          <a:p>
            <a:pPr marL="0" indent="0" algn="l">
              <a:lnSpc>
                <a:spcPts val="2000"/>
              </a:lnSpc>
              <a:buNone/>
            </a:pPr>
            <a:r>
              <a:rPr lang="en-US" sz="1250" dirty="0">
                <a:solidFill>
                  <a:srgbClr val="2C2926"/>
                </a:solidFill>
                <a:latin typeface="Inter" pitchFamily="34" charset="0"/>
                <a:ea typeface="Inter" pitchFamily="34" charset="-122"/>
                <a:cs typeface="Inter" pitchFamily="34" charset="-120"/>
              </a:rPr>
              <a:t>To offer a scalable and modern web-based solution using latest technologies.</a:t>
            </a:r>
            <a:endParaRPr lang="en-US" sz="12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071" y="597218"/>
            <a:ext cx="2707481" cy="338376"/>
          </a:xfrm>
          <a:prstGeom prst="rect">
            <a:avLst/>
          </a:prstGeom>
          <a:noFill/>
          <a:ln/>
        </p:spPr>
        <p:txBody>
          <a:bodyPr wrap="none" lIns="0" tIns="0" rIns="0" bIns="0" rtlCol="0" anchor="t"/>
          <a:lstStyle/>
          <a:p>
            <a:pPr marL="0" indent="0" algn="l">
              <a:lnSpc>
                <a:spcPts val="2650"/>
              </a:lnSpc>
              <a:buNone/>
            </a:pPr>
            <a:r>
              <a:rPr lang="en-US" sz="2100" dirty="0">
                <a:solidFill>
                  <a:srgbClr val="DFAB58"/>
                </a:solidFill>
                <a:latin typeface="Bricolage Grotesque Semi Bold" pitchFamily="34" charset="0"/>
                <a:ea typeface="Bricolage Grotesque Semi Bold" pitchFamily="34" charset="-122"/>
                <a:cs typeface="Bricolage Grotesque Semi Bold" pitchFamily="34" charset="-120"/>
              </a:rPr>
              <a:t>1. Technology Stack</a:t>
            </a:r>
            <a:endParaRPr lang="en-US" sz="2100" dirty="0"/>
          </a:p>
        </p:txBody>
      </p:sp>
      <p:sp>
        <p:nvSpPr>
          <p:cNvPr id="3" name="Text 1"/>
          <p:cNvSpPr/>
          <p:nvPr/>
        </p:nvSpPr>
        <p:spPr>
          <a:xfrm>
            <a:off x="758071" y="1022152"/>
            <a:ext cx="9279850" cy="541377"/>
          </a:xfrm>
          <a:prstGeom prst="rect">
            <a:avLst/>
          </a:prstGeom>
          <a:noFill/>
          <a:ln/>
        </p:spPr>
        <p:txBody>
          <a:bodyPr wrap="none" lIns="0" tIns="0" rIns="0" bIns="0" rtlCol="0" anchor="t"/>
          <a:lstStyle/>
          <a:p>
            <a:pPr marL="0" indent="0" algn="l">
              <a:lnSpc>
                <a:spcPts val="4250"/>
              </a:lnSpc>
              <a:buNone/>
            </a:pPr>
            <a:r>
              <a:rPr lang="en-US" sz="3400" dirty="0">
                <a:solidFill>
                  <a:srgbClr val="2C2926"/>
                </a:solidFill>
                <a:latin typeface="Bricolage Grotesque Semi Bold" pitchFamily="34" charset="0"/>
                <a:ea typeface="Bricolage Grotesque Semi Bold" pitchFamily="34" charset="-122"/>
                <a:cs typeface="Bricolage Grotesque Semi Bold" pitchFamily="34" charset="-120"/>
              </a:rPr>
              <a:t>Modern Technologies Powering the Platform</a:t>
            </a:r>
            <a:endParaRPr lang="en-US" sz="3400" dirty="0"/>
          </a:p>
        </p:txBody>
      </p:sp>
      <p:sp>
        <p:nvSpPr>
          <p:cNvPr id="4" name="Text 2"/>
          <p:cNvSpPr/>
          <p:nvPr/>
        </p:nvSpPr>
        <p:spPr>
          <a:xfrm>
            <a:off x="758071" y="2104906"/>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Backend</a:t>
            </a:r>
            <a:endParaRPr lang="en-US" sz="2550" dirty="0"/>
          </a:p>
        </p:txBody>
      </p:sp>
      <p:sp>
        <p:nvSpPr>
          <p:cNvPr id="5" name="Text 3"/>
          <p:cNvSpPr/>
          <p:nvPr/>
        </p:nvSpPr>
        <p:spPr>
          <a:xfrm>
            <a:off x="758071" y="2727603"/>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Spring Boot 3.2.0</a:t>
            </a:r>
            <a:endParaRPr lang="en-US" sz="1700" dirty="0"/>
          </a:p>
        </p:txBody>
      </p:sp>
      <p:sp>
        <p:nvSpPr>
          <p:cNvPr id="6" name="Text 4"/>
          <p:cNvSpPr/>
          <p:nvPr/>
        </p:nvSpPr>
        <p:spPr>
          <a:xfrm>
            <a:off x="758071" y="3149798"/>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Java 17</a:t>
            </a:r>
            <a:endParaRPr lang="en-US" sz="1700" dirty="0"/>
          </a:p>
        </p:txBody>
      </p:sp>
      <p:sp>
        <p:nvSpPr>
          <p:cNvPr id="7" name="Text 5"/>
          <p:cNvSpPr/>
          <p:nvPr/>
        </p:nvSpPr>
        <p:spPr>
          <a:xfrm>
            <a:off x="758071" y="3571994"/>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Maven</a:t>
            </a:r>
            <a:endParaRPr lang="en-US" sz="1700" dirty="0"/>
          </a:p>
        </p:txBody>
      </p:sp>
      <p:sp>
        <p:nvSpPr>
          <p:cNvPr id="8" name="Text 6"/>
          <p:cNvSpPr/>
          <p:nvPr/>
        </p:nvSpPr>
        <p:spPr>
          <a:xfrm>
            <a:off x="758071" y="4135041"/>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Frontend</a:t>
            </a:r>
            <a:endParaRPr lang="en-US" sz="2550" dirty="0"/>
          </a:p>
        </p:txBody>
      </p:sp>
      <p:sp>
        <p:nvSpPr>
          <p:cNvPr id="9" name="Text 7"/>
          <p:cNvSpPr/>
          <p:nvPr/>
        </p:nvSpPr>
        <p:spPr>
          <a:xfrm>
            <a:off x="758071" y="4757738"/>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React 18</a:t>
            </a:r>
            <a:endParaRPr lang="en-US" sz="1700" dirty="0"/>
          </a:p>
        </p:txBody>
      </p:sp>
      <p:sp>
        <p:nvSpPr>
          <p:cNvPr id="10" name="Text 8"/>
          <p:cNvSpPr/>
          <p:nvPr/>
        </p:nvSpPr>
        <p:spPr>
          <a:xfrm>
            <a:off x="758071" y="5179933"/>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Vite</a:t>
            </a:r>
            <a:endParaRPr lang="en-US" sz="1700" dirty="0"/>
          </a:p>
        </p:txBody>
      </p:sp>
      <p:sp>
        <p:nvSpPr>
          <p:cNvPr id="11" name="Text 9"/>
          <p:cNvSpPr/>
          <p:nvPr/>
        </p:nvSpPr>
        <p:spPr>
          <a:xfrm>
            <a:off x="758071" y="5602129"/>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Material UI</a:t>
            </a:r>
            <a:endParaRPr lang="en-US" sz="1700" dirty="0"/>
          </a:p>
        </p:txBody>
      </p:sp>
      <p:sp>
        <p:nvSpPr>
          <p:cNvPr id="12" name="Text 10"/>
          <p:cNvSpPr/>
          <p:nvPr/>
        </p:nvSpPr>
        <p:spPr>
          <a:xfrm>
            <a:off x="758071" y="6165175"/>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Database</a:t>
            </a:r>
            <a:endParaRPr lang="en-US" sz="2550" dirty="0"/>
          </a:p>
        </p:txBody>
      </p:sp>
      <p:sp>
        <p:nvSpPr>
          <p:cNvPr id="13" name="Text 11"/>
          <p:cNvSpPr/>
          <p:nvPr/>
        </p:nvSpPr>
        <p:spPr>
          <a:xfrm>
            <a:off x="758071" y="6787872"/>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PostgreSQL</a:t>
            </a:r>
            <a:endParaRPr lang="en-US" sz="1700" dirty="0"/>
          </a:p>
        </p:txBody>
      </p:sp>
      <p:sp>
        <p:nvSpPr>
          <p:cNvPr id="14" name="Text 12"/>
          <p:cNvSpPr/>
          <p:nvPr/>
        </p:nvSpPr>
        <p:spPr>
          <a:xfrm>
            <a:off x="758071" y="7210068"/>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Flyway for database migration</a:t>
            </a:r>
            <a:endParaRPr lang="en-US" sz="1700" dirty="0"/>
          </a:p>
        </p:txBody>
      </p:sp>
      <p:sp>
        <p:nvSpPr>
          <p:cNvPr id="15" name="Text 13"/>
          <p:cNvSpPr/>
          <p:nvPr/>
        </p:nvSpPr>
        <p:spPr>
          <a:xfrm>
            <a:off x="7587020" y="2104906"/>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Security</a:t>
            </a:r>
            <a:endParaRPr lang="en-US" sz="2550" dirty="0"/>
          </a:p>
        </p:txBody>
      </p:sp>
      <p:sp>
        <p:nvSpPr>
          <p:cNvPr id="16" name="Text 14"/>
          <p:cNvSpPr/>
          <p:nvPr/>
        </p:nvSpPr>
        <p:spPr>
          <a:xfrm>
            <a:off x="7587020" y="2727603"/>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Spring Security</a:t>
            </a:r>
            <a:endParaRPr lang="en-US" sz="1700" dirty="0"/>
          </a:p>
        </p:txBody>
      </p:sp>
      <p:sp>
        <p:nvSpPr>
          <p:cNvPr id="17" name="Text 15"/>
          <p:cNvSpPr/>
          <p:nvPr/>
        </p:nvSpPr>
        <p:spPr>
          <a:xfrm>
            <a:off x="7587020" y="3149798"/>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JWT Authentication</a:t>
            </a:r>
            <a:endParaRPr lang="en-US" sz="1700" dirty="0"/>
          </a:p>
        </p:txBody>
      </p:sp>
      <p:sp>
        <p:nvSpPr>
          <p:cNvPr id="18" name="Text 16"/>
          <p:cNvSpPr/>
          <p:nvPr/>
        </p:nvSpPr>
        <p:spPr>
          <a:xfrm>
            <a:off x="7587020" y="3712845"/>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Payment Gateway</a:t>
            </a:r>
            <a:endParaRPr lang="en-US" sz="2550" dirty="0"/>
          </a:p>
        </p:txBody>
      </p:sp>
      <p:sp>
        <p:nvSpPr>
          <p:cNvPr id="19" name="Text 17"/>
          <p:cNvSpPr/>
          <p:nvPr/>
        </p:nvSpPr>
        <p:spPr>
          <a:xfrm>
            <a:off x="7587020" y="4335542"/>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Razorpay</a:t>
            </a:r>
            <a:endParaRPr lang="en-US" sz="1700" dirty="0"/>
          </a:p>
        </p:txBody>
      </p:sp>
      <p:sp>
        <p:nvSpPr>
          <p:cNvPr id="20" name="Text 18"/>
          <p:cNvSpPr/>
          <p:nvPr/>
        </p:nvSpPr>
        <p:spPr>
          <a:xfrm>
            <a:off x="7587020" y="4898588"/>
            <a:ext cx="3248978" cy="406122"/>
          </a:xfrm>
          <a:prstGeom prst="rect">
            <a:avLst/>
          </a:prstGeom>
          <a:noFill/>
          <a:ln/>
        </p:spPr>
        <p:txBody>
          <a:bodyPr wrap="none" lIns="0" tIns="0" rIns="0" bIns="0" rtlCol="0" anchor="t"/>
          <a:lstStyle/>
          <a:p>
            <a:pPr marL="0" indent="0" algn="l">
              <a:lnSpc>
                <a:spcPts val="3150"/>
              </a:lnSpc>
              <a:buNone/>
            </a:pPr>
            <a:r>
              <a:rPr lang="en-US" sz="2550" dirty="0">
                <a:solidFill>
                  <a:srgbClr val="E7BF6A"/>
                </a:solidFill>
                <a:latin typeface="Bricolage Grotesque Semi Bold" pitchFamily="34" charset="0"/>
                <a:ea typeface="Bricolage Grotesque Semi Bold" pitchFamily="34" charset="-122"/>
                <a:cs typeface="Bricolage Grotesque Semi Bold" pitchFamily="34" charset="-120"/>
              </a:rPr>
              <a:t>Real-time Features</a:t>
            </a:r>
            <a:endParaRPr lang="en-US" sz="2550" dirty="0"/>
          </a:p>
        </p:txBody>
      </p:sp>
      <p:sp>
        <p:nvSpPr>
          <p:cNvPr id="21" name="Text 19"/>
          <p:cNvSpPr/>
          <p:nvPr/>
        </p:nvSpPr>
        <p:spPr>
          <a:xfrm>
            <a:off x="7587020" y="5521285"/>
            <a:ext cx="6292929" cy="346472"/>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C2926"/>
                </a:solidFill>
                <a:latin typeface="Inter" pitchFamily="34" charset="0"/>
                <a:ea typeface="Inter" pitchFamily="34" charset="-122"/>
                <a:cs typeface="Inter" pitchFamily="34" charset="-120"/>
              </a:rPr>
              <a:t>WebSocket for notifications and live updates</a:t>
            </a:r>
            <a:endParaRPr lang="en-US" sz="17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052042" y="789861"/>
            <a:ext cx="2237542" cy="259913"/>
          </a:xfrm>
          <a:prstGeom prst="rect">
            <a:avLst/>
          </a:prstGeom>
          <a:noFill/>
          <a:ln/>
        </p:spPr>
        <p:txBody>
          <a:bodyPr wrap="none" lIns="0" tIns="0" rIns="0" bIns="0" rtlCol="0" anchor="t"/>
          <a:lstStyle/>
          <a:p>
            <a:pPr marL="0" indent="0" algn="l">
              <a:lnSpc>
                <a:spcPts val="2000"/>
              </a:lnSpc>
              <a:buNone/>
            </a:pPr>
            <a:r>
              <a:rPr lang="en-US" sz="1600" dirty="0">
                <a:solidFill>
                  <a:srgbClr val="E7BF6A"/>
                </a:solidFill>
                <a:latin typeface="Bricolage Grotesque Semi Bold" pitchFamily="34" charset="0"/>
                <a:ea typeface="Bricolage Grotesque Semi Bold" pitchFamily="34" charset="-122"/>
                <a:cs typeface="Bricolage Grotesque Semi Bold" pitchFamily="34" charset="-120"/>
              </a:rPr>
              <a:t>1. System Architecture</a:t>
            </a:r>
            <a:endParaRPr lang="en-US" sz="1600" dirty="0"/>
          </a:p>
        </p:txBody>
      </p:sp>
      <p:sp>
        <p:nvSpPr>
          <p:cNvPr id="3" name="Text 1"/>
          <p:cNvSpPr/>
          <p:nvPr/>
        </p:nvSpPr>
        <p:spPr>
          <a:xfrm>
            <a:off x="2052042" y="1116330"/>
            <a:ext cx="5700236" cy="416123"/>
          </a:xfrm>
          <a:prstGeom prst="rect">
            <a:avLst/>
          </a:prstGeom>
          <a:noFill/>
          <a:ln/>
        </p:spPr>
        <p:txBody>
          <a:bodyPr wrap="none" lIns="0" tIns="0" rIns="0" bIns="0" rtlCol="0" anchor="t"/>
          <a:lstStyle/>
          <a:p>
            <a:pPr marL="0" indent="0" algn="l">
              <a:lnSpc>
                <a:spcPts val="3250"/>
              </a:lnSpc>
              <a:buNone/>
            </a:pPr>
            <a:r>
              <a:rPr lang="en-US" sz="2600" dirty="0">
                <a:solidFill>
                  <a:srgbClr val="2C2926"/>
                </a:solidFill>
                <a:latin typeface="Bricolage Grotesque Semi Bold" pitchFamily="34" charset="0"/>
                <a:ea typeface="Bricolage Grotesque Semi Bold" pitchFamily="34" charset="-122"/>
                <a:cs typeface="Bricolage Grotesque Semi Bold" pitchFamily="34" charset="-120"/>
              </a:rPr>
              <a:t>Layered Architecture for Scalability</a:t>
            </a:r>
            <a:endParaRPr lang="en-US" sz="2600" dirty="0"/>
          </a:p>
        </p:txBody>
      </p:sp>
      <p:sp>
        <p:nvSpPr>
          <p:cNvPr id="4" name="Text 2"/>
          <p:cNvSpPr/>
          <p:nvPr/>
        </p:nvSpPr>
        <p:spPr>
          <a:xfrm>
            <a:off x="2052042" y="1782008"/>
            <a:ext cx="10526197" cy="332780"/>
          </a:xfrm>
          <a:prstGeom prst="rect">
            <a:avLst/>
          </a:prstGeom>
          <a:noFill/>
          <a:ln/>
        </p:spPr>
        <p:txBody>
          <a:bodyPr wrap="none" lIns="0" tIns="0" rIns="0" bIns="0" rtlCol="0" anchor="t"/>
          <a:lstStyle/>
          <a:p>
            <a:pPr marL="0" indent="0" algn="l">
              <a:lnSpc>
                <a:spcPts val="2600"/>
              </a:lnSpc>
              <a:buNone/>
            </a:pPr>
            <a:r>
              <a:rPr lang="en-US" sz="1600" dirty="0">
                <a:solidFill>
                  <a:srgbClr val="2C2926"/>
                </a:solidFill>
                <a:latin typeface="Inter" pitchFamily="34" charset="0"/>
                <a:ea typeface="Inter" pitchFamily="34" charset="-122"/>
                <a:cs typeface="Inter" pitchFamily="34" charset="-120"/>
              </a:rPr>
              <a:t>The system follows a layered architecture to ensure maintainability, scalability, and separation of concerns.</a:t>
            </a:r>
            <a:endParaRPr lang="en-US" sz="1600" dirty="0"/>
          </a:p>
        </p:txBody>
      </p:sp>
      <p:sp>
        <p:nvSpPr>
          <p:cNvPr id="5" name="Text 3"/>
          <p:cNvSpPr/>
          <p:nvPr/>
        </p:nvSpPr>
        <p:spPr>
          <a:xfrm>
            <a:off x="2052042" y="2364343"/>
            <a:ext cx="2496264" cy="312063"/>
          </a:xfrm>
          <a:prstGeom prst="rect">
            <a:avLst/>
          </a:prstGeom>
          <a:noFill/>
          <a:ln/>
        </p:spPr>
        <p:txBody>
          <a:bodyPr wrap="none" lIns="0" tIns="0" rIns="0" bIns="0" rtlCol="0" anchor="t"/>
          <a:lstStyle/>
          <a:p>
            <a:pPr marL="0" indent="0" algn="l">
              <a:lnSpc>
                <a:spcPts val="2450"/>
              </a:lnSpc>
              <a:buNone/>
            </a:pPr>
            <a:r>
              <a:rPr lang="en-US" sz="1950" dirty="0">
                <a:solidFill>
                  <a:srgbClr val="DFAB58"/>
                </a:solidFill>
                <a:latin typeface="Bricolage Grotesque Semi Bold" pitchFamily="34" charset="0"/>
                <a:ea typeface="Bricolage Grotesque Semi Bold" pitchFamily="34" charset="-122"/>
                <a:cs typeface="Bricolage Grotesque Semi Bold" pitchFamily="34" charset="-120"/>
              </a:rPr>
              <a:t>Architecture Layers</a:t>
            </a:r>
            <a:endParaRPr lang="en-US" sz="1950" dirty="0"/>
          </a:p>
        </p:txBody>
      </p:sp>
      <p:pic>
        <p:nvPicPr>
          <p:cNvPr id="6" name="Image 0" descr="preencoded.png"/>
          <p:cNvPicPr>
            <a:picLocks noChangeAspect="1"/>
          </p:cNvPicPr>
          <p:nvPr/>
        </p:nvPicPr>
        <p:blipFill>
          <a:blip r:embed="rId3"/>
          <a:stretch>
            <a:fillRect/>
          </a:stretch>
        </p:blipFill>
        <p:spPr>
          <a:xfrm>
            <a:off x="2052042" y="2925961"/>
            <a:ext cx="832009" cy="998458"/>
          </a:xfrm>
          <a:prstGeom prst="rect">
            <a:avLst/>
          </a:prstGeom>
        </p:spPr>
      </p:pic>
      <p:sp>
        <p:nvSpPr>
          <p:cNvPr id="7" name="Text 4"/>
          <p:cNvSpPr/>
          <p:nvPr/>
        </p:nvSpPr>
        <p:spPr>
          <a:xfrm>
            <a:off x="3050381" y="3092291"/>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Controller Layer</a:t>
            </a:r>
            <a:endParaRPr lang="en-US" sz="1600" dirty="0"/>
          </a:p>
        </p:txBody>
      </p:sp>
      <p:sp>
        <p:nvSpPr>
          <p:cNvPr id="8" name="Text 5"/>
          <p:cNvSpPr/>
          <p:nvPr/>
        </p:nvSpPr>
        <p:spPr>
          <a:xfrm>
            <a:off x="3050381" y="3451979"/>
            <a:ext cx="9527858" cy="266224"/>
          </a:xfrm>
          <a:prstGeom prst="rect">
            <a:avLst/>
          </a:prstGeom>
          <a:noFill/>
          <a:ln/>
        </p:spPr>
        <p:txBody>
          <a:bodyPr wrap="non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Handles all incoming HTTP requests and sends appropriate responses to the client.</a:t>
            </a:r>
            <a:endParaRPr lang="en-US" sz="1300" dirty="0"/>
          </a:p>
        </p:txBody>
      </p:sp>
      <p:pic>
        <p:nvPicPr>
          <p:cNvPr id="9" name="Image 1" descr="preencoded.png"/>
          <p:cNvPicPr>
            <a:picLocks noChangeAspect="1"/>
          </p:cNvPicPr>
          <p:nvPr/>
        </p:nvPicPr>
        <p:blipFill>
          <a:blip r:embed="rId4"/>
          <a:stretch>
            <a:fillRect/>
          </a:stretch>
        </p:blipFill>
        <p:spPr>
          <a:xfrm>
            <a:off x="2052042" y="3924419"/>
            <a:ext cx="832009" cy="998458"/>
          </a:xfrm>
          <a:prstGeom prst="rect">
            <a:avLst/>
          </a:prstGeom>
        </p:spPr>
      </p:pic>
      <p:sp>
        <p:nvSpPr>
          <p:cNvPr id="10" name="Text 6"/>
          <p:cNvSpPr/>
          <p:nvPr/>
        </p:nvSpPr>
        <p:spPr>
          <a:xfrm>
            <a:off x="3050381" y="4090749"/>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Service Layer</a:t>
            </a:r>
            <a:endParaRPr lang="en-US" sz="1600" dirty="0"/>
          </a:p>
        </p:txBody>
      </p:sp>
      <p:sp>
        <p:nvSpPr>
          <p:cNvPr id="11" name="Text 7"/>
          <p:cNvSpPr/>
          <p:nvPr/>
        </p:nvSpPr>
        <p:spPr>
          <a:xfrm>
            <a:off x="3050381" y="4450437"/>
            <a:ext cx="9527858" cy="266224"/>
          </a:xfrm>
          <a:prstGeom prst="rect">
            <a:avLst/>
          </a:prstGeom>
          <a:noFill/>
          <a:ln/>
        </p:spPr>
        <p:txBody>
          <a:bodyPr wrap="non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Contains the core business logic such as booking validation, payment processing, and ride management.</a:t>
            </a:r>
            <a:endParaRPr lang="en-US" sz="1300" dirty="0"/>
          </a:p>
        </p:txBody>
      </p:sp>
      <p:pic>
        <p:nvPicPr>
          <p:cNvPr id="12" name="Image 2" descr="preencoded.png"/>
          <p:cNvPicPr>
            <a:picLocks noChangeAspect="1"/>
          </p:cNvPicPr>
          <p:nvPr/>
        </p:nvPicPr>
        <p:blipFill>
          <a:blip r:embed="rId5"/>
          <a:stretch>
            <a:fillRect/>
          </a:stretch>
        </p:blipFill>
        <p:spPr>
          <a:xfrm>
            <a:off x="2052042" y="4922877"/>
            <a:ext cx="832009" cy="998458"/>
          </a:xfrm>
          <a:prstGeom prst="rect">
            <a:avLst/>
          </a:prstGeom>
        </p:spPr>
      </p:pic>
      <p:sp>
        <p:nvSpPr>
          <p:cNvPr id="13" name="Text 8"/>
          <p:cNvSpPr/>
          <p:nvPr/>
        </p:nvSpPr>
        <p:spPr>
          <a:xfrm>
            <a:off x="3050381" y="5089208"/>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Repository Layer</a:t>
            </a:r>
            <a:endParaRPr lang="en-US" sz="1600" dirty="0"/>
          </a:p>
        </p:txBody>
      </p:sp>
      <p:sp>
        <p:nvSpPr>
          <p:cNvPr id="14" name="Text 9"/>
          <p:cNvSpPr/>
          <p:nvPr/>
        </p:nvSpPr>
        <p:spPr>
          <a:xfrm>
            <a:off x="3050381" y="5448895"/>
            <a:ext cx="9527858" cy="266224"/>
          </a:xfrm>
          <a:prstGeom prst="rect">
            <a:avLst/>
          </a:prstGeom>
          <a:noFill/>
          <a:ln/>
        </p:spPr>
        <p:txBody>
          <a:bodyPr wrap="non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Manages database operations using Spring Data JPA.</a:t>
            </a:r>
            <a:endParaRPr lang="en-US" sz="1300" dirty="0"/>
          </a:p>
        </p:txBody>
      </p:sp>
      <p:pic>
        <p:nvPicPr>
          <p:cNvPr id="15" name="Image 3" descr="preencoded.png"/>
          <p:cNvPicPr>
            <a:picLocks noChangeAspect="1"/>
          </p:cNvPicPr>
          <p:nvPr/>
        </p:nvPicPr>
        <p:blipFill>
          <a:blip r:embed="rId6"/>
          <a:stretch>
            <a:fillRect/>
          </a:stretch>
        </p:blipFill>
        <p:spPr>
          <a:xfrm>
            <a:off x="2052042" y="5921335"/>
            <a:ext cx="832009" cy="998458"/>
          </a:xfrm>
          <a:prstGeom prst="rect">
            <a:avLst/>
          </a:prstGeom>
        </p:spPr>
      </p:pic>
      <p:sp>
        <p:nvSpPr>
          <p:cNvPr id="16" name="Text 10"/>
          <p:cNvSpPr/>
          <p:nvPr/>
        </p:nvSpPr>
        <p:spPr>
          <a:xfrm>
            <a:off x="3050381" y="6087666"/>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Entity Layer</a:t>
            </a:r>
            <a:endParaRPr lang="en-US" sz="1600" dirty="0"/>
          </a:p>
        </p:txBody>
      </p:sp>
      <p:sp>
        <p:nvSpPr>
          <p:cNvPr id="17" name="Text 11"/>
          <p:cNvSpPr/>
          <p:nvPr/>
        </p:nvSpPr>
        <p:spPr>
          <a:xfrm>
            <a:off x="3050381" y="6447353"/>
            <a:ext cx="9527858" cy="266224"/>
          </a:xfrm>
          <a:prstGeom prst="rect">
            <a:avLst/>
          </a:prstGeom>
          <a:noFill/>
          <a:ln/>
        </p:spPr>
        <p:txBody>
          <a:bodyPr wrap="non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Defines all database models and relationships.</a:t>
            </a:r>
            <a:endParaRPr lang="en-US" sz="1300" dirty="0"/>
          </a:p>
        </p:txBody>
      </p:sp>
      <p:sp>
        <p:nvSpPr>
          <p:cNvPr id="18" name="Text 12"/>
          <p:cNvSpPr/>
          <p:nvPr/>
        </p:nvSpPr>
        <p:spPr>
          <a:xfrm>
            <a:off x="2052042" y="7106960"/>
            <a:ext cx="10526197" cy="332780"/>
          </a:xfrm>
          <a:prstGeom prst="rect">
            <a:avLst/>
          </a:prstGeom>
          <a:noFill/>
          <a:ln/>
        </p:spPr>
        <p:txBody>
          <a:bodyPr wrap="none" lIns="0" tIns="0" rIns="0" bIns="0" rtlCol="0" anchor="t"/>
          <a:lstStyle/>
          <a:p>
            <a:pPr marL="0" indent="0" algn="l">
              <a:lnSpc>
                <a:spcPts val="2600"/>
              </a:lnSpc>
              <a:buNone/>
            </a:pPr>
            <a:r>
              <a:rPr lang="en-US" sz="1600" dirty="0">
                <a:solidFill>
                  <a:srgbClr val="2C2926"/>
                </a:solidFill>
                <a:latin typeface="Inter" pitchFamily="34" charset="0"/>
                <a:ea typeface="Inter" pitchFamily="34" charset="-122"/>
                <a:cs typeface="Inter" pitchFamily="34" charset="-120"/>
              </a:rPr>
              <a:t>This architecture ensures clean code structure, easy debugging, and smooth future enhancements.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392567" y="345758"/>
            <a:ext cx="2910364" cy="193715"/>
          </a:xfrm>
          <a:prstGeom prst="rect">
            <a:avLst/>
          </a:prstGeom>
          <a:noFill/>
          <a:ln/>
        </p:spPr>
        <p:txBody>
          <a:bodyPr wrap="none" lIns="0" tIns="0" rIns="0" bIns="0" rtlCol="0" anchor="t"/>
          <a:lstStyle/>
          <a:p>
            <a:pPr marL="0" indent="0" algn="l">
              <a:lnSpc>
                <a:spcPts val="1500"/>
              </a:lnSpc>
              <a:buNone/>
            </a:pPr>
            <a:r>
              <a:rPr lang="en-US" sz="1200" dirty="0">
                <a:solidFill>
                  <a:srgbClr val="DFAB58"/>
                </a:solidFill>
                <a:latin typeface="Bricolage Grotesque Semi Bold" pitchFamily="34" charset="0"/>
                <a:ea typeface="Bricolage Grotesque Semi Bold" pitchFamily="34" charset="-122"/>
                <a:cs typeface="Bricolage Grotesque Semi Bold" pitchFamily="34" charset="-120"/>
              </a:rPr>
              <a:t>1. Database Design &amp; Entity Description</a:t>
            </a:r>
            <a:endParaRPr lang="en-US" sz="1200" dirty="0"/>
          </a:p>
        </p:txBody>
      </p:sp>
      <p:sp>
        <p:nvSpPr>
          <p:cNvPr id="3" name="Text 1"/>
          <p:cNvSpPr/>
          <p:nvPr/>
        </p:nvSpPr>
        <p:spPr>
          <a:xfrm>
            <a:off x="3392567" y="589002"/>
            <a:ext cx="4130635" cy="310158"/>
          </a:xfrm>
          <a:prstGeom prst="rect">
            <a:avLst/>
          </a:prstGeom>
          <a:noFill/>
          <a:ln/>
        </p:spPr>
        <p:txBody>
          <a:bodyPr wrap="none" lIns="0" tIns="0" rIns="0" bIns="0" rtlCol="0" anchor="t"/>
          <a:lstStyle/>
          <a:p>
            <a:pPr marL="0" indent="0" algn="l">
              <a:lnSpc>
                <a:spcPts val="2400"/>
              </a:lnSpc>
              <a:buNone/>
            </a:pPr>
            <a:r>
              <a:rPr lang="en-US" sz="1950" dirty="0">
                <a:solidFill>
                  <a:srgbClr val="2C2926"/>
                </a:solidFill>
                <a:latin typeface="Bricolage Grotesque Semi Bold" pitchFamily="34" charset="0"/>
                <a:ea typeface="Bricolage Grotesque Semi Bold" pitchFamily="34" charset="-122"/>
                <a:cs typeface="Bricolage Grotesque Semi Bold" pitchFamily="34" charset="-120"/>
              </a:rPr>
              <a:t>Comprehensive Data Management</a:t>
            </a:r>
            <a:endParaRPr lang="en-US" sz="1950" dirty="0"/>
          </a:p>
        </p:txBody>
      </p:sp>
      <p:sp>
        <p:nvSpPr>
          <p:cNvPr id="4" name="Shape 2"/>
          <p:cNvSpPr/>
          <p:nvPr/>
        </p:nvSpPr>
        <p:spPr>
          <a:xfrm>
            <a:off x="3392567" y="1271111"/>
            <a:ext cx="3860602" cy="1312783"/>
          </a:xfrm>
          <a:prstGeom prst="roundRect">
            <a:avLst>
              <a:gd name="adj" fmla="val 5572"/>
            </a:avLst>
          </a:prstGeom>
          <a:solidFill>
            <a:srgbClr val="FFFFFF">
              <a:alpha val="95000"/>
            </a:srgbClr>
          </a:solidFill>
          <a:ln/>
        </p:spPr>
      </p:sp>
      <p:pic>
        <p:nvPicPr>
          <p:cNvPr id="5" name="Image 0" descr="preencoded.png"/>
          <p:cNvPicPr>
            <a:picLocks noChangeAspect="1"/>
          </p:cNvPicPr>
          <p:nvPr/>
        </p:nvPicPr>
        <p:blipFill>
          <a:blip r:embed="rId3"/>
          <a:stretch>
            <a:fillRect/>
          </a:stretch>
        </p:blipFill>
        <p:spPr>
          <a:xfrm>
            <a:off x="3392567" y="1255871"/>
            <a:ext cx="3860602" cy="60960"/>
          </a:xfrm>
          <a:prstGeom prst="rect">
            <a:avLst/>
          </a:prstGeom>
        </p:spPr>
      </p:pic>
      <p:pic>
        <p:nvPicPr>
          <p:cNvPr id="6" name="Image 1" descr="preencoded.png"/>
          <p:cNvPicPr>
            <a:picLocks noChangeAspect="1"/>
          </p:cNvPicPr>
          <p:nvPr/>
        </p:nvPicPr>
        <p:blipFill>
          <a:blip r:embed="rId4"/>
          <a:stretch>
            <a:fillRect/>
          </a:stretch>
        </p:blipFill>
        <p:spPr>
          <a:xfrm>
            <a:off x="5136773" y="1085136"/>
            <a:ext cx="372070" cy="372070"/>
          </a:xfrm>
          <a:prstGeom prst="rect">
            <a:avLst/>
          </a:prstGeom>
        </p:spPr>
      </p:pic>
      <p:sp>
        <p:nvSpPr>
          <p:cNvPr id="7" name="Text 3"/>
          <p:cNvSpPr/>
          <p:nvPr/>
        </p:nvSpPr>
        <p:spPr>
          <a:xfrm>
            <a:off x="5248335" y="1178123"/>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1</a:t>
            </a:r>
            <a:endParaRPr lang="en-US" sz="1150" dirty="0"/>
          </a:p>
        </p:txBody>
      </p:sp>
      <p:sp>
        <p:nvSpPr>
          <p:cNvPr id="8" name="Text 4"/>
          <p:cNvSpPr/>
          <p:nvPr/>
        </p:nvSpPr>
        <p:spPr>
          <a:xfrm>
            <a:off x="3531751" y="1581150"/>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User</a:t>
            </a:r>
            <a:endParaRPr lang="en-US" sz="1200" dirty="0"/>
          </a:p>
        </p:txBody>
      </p:sp>
      <p:sp>
        <p:nvSpPr>
          <p:cNvPr id="9" name="Text 5"/>
          <p:cNvSpPr/>
          <p:nvPr/>
        </p:nvSpPr>
        <p:spPr>
          <a:xfrm>
            <a:off x="3531751" y="1849279"/>
            <a:ext cx="3582233" cy="595432"/>
          </a:xfrm>
          <a:prstGeom prst="rect">
            <a:avLst/>
          </a:prstGeom>
          <a:noFill/>
          <a:ln/>
        </p:spPr>
        <p:txBody>
          <a:bodyPr wrap="squar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Stores information about Admins, Drivers, and Passengers. Includes personal details, verification status, and emergency contacts.</a:t>
            </a:r>
            <a:endParaRPr lang="en-US" sz="950" dirty="0"/>
          </a:p>
        </p:txBody>
      </p:sp>
      <p:sp>
        <p:nvSpPr>
          <p:cNvPr id="10" name="Shape 6"/>
          <p:cNvSpPr/>
          <p:nvPr/>
        </p:nvSpPr>
        <p:spPr>
          <a:xfrm>
            <a:off x="7377113" y="1271111"/>
            <a:ext cx="3860721" cy="1312783"/>
          </a:xfrm>
          <a:prstGeom prst="roundRect">
            <a:avLst>
              <a:gd name="adj" fmla="val 5572"/>
            </a:avLst>
          </a:prstGeom>
          <a:solidFill>
            <a:srgbClr val="FFFFFF">
              <a:alpha val="95000"/>
            </a:srgbClr>
          </a:solidFill>
          <a:ln/>
        </p:spPr>
      </p:sp>
      <p:pic>
        <p:nvPicPr>
          <p:cNvPr id="11" name="Image 2" descr="preencoded.png"/>
          <p:cNvPicPr>
            <a:picLocks noChangeAspect="1"/>
          </p:cNvPicPr>
          <p:nvPr/>
        </p:nvPicPr>
        <p:blipFill>
          <a:blip r:embed="rId3"/>
          <a:stretch>
            <a:fillRect/>
          </a:stretch>
        </p:blipFill>
        <p:spPr>
          <a:xfrm>
            <a:off x="7377113" y="1255871"/>
            <a:ext cx="3860721" cy="60960"/>
          </a:xfrm>
          <a:prstGeom prst="rect">
            <a:avLst/>
          </a:prstGeom>
        </p:spPr>
      </p:pic>
      <p:pic>
        <p:nvPicPr>
          <p:cNvPr id="12" name="Image 3" descr="preencoded.png"/>
          <p:cNvPicPr>
            <a:picLocks noChangeAspect="1"/>
          </p:cNvPicPr>
          <p:nvPr/>
        </p:nvPicPr>
        <p:blipFill>
          <a:blip r:embed="rId4"/>
          <a:stretch>
            <a:fillRect/>
          </a:stretch>
        </p:blipFill>
        <p:spPr>
          <a:xfrm>
            <a:off x="9121438" y="1085136"/>
            <a:ext cx="372070" cy="372070"/>
          </a:xfrm>
          <a:prstGeom prst="rect">
            <a:avLst/>
          </a:prstGeom>
        </p:spPr>
      </p:pic>
      <p:sp>
        <p:nvSpPr>
          <p:cNvPr id="13" name="Text 7"/>
          <p:cNvSpPr/>
          <p:nvPr/>
        </p:nvSpPr>
        <p:spPr>
          <a:xfrm>
            <a:off x="9232999" y="1178123"/>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2</a:t>
            </a:r>
            <a:endParaRPr lang="en-US" sz="1150" dirty="0"/>
          </a:p>
        </p:txBody>
      </p:sp>
      <p:sp>
        <p:nvSpPr>
          <p:cNvPr id="14" name="Text 8"/>
          <p:cNvSpPr/>
          <p:nvPr/>
        </p:nvSpPr>
        <p:spPr>
          <a:xfrm>
            <a:off x="7516297" y="1581150"/>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Vehicle</a:t>
            </a:r>
            <a:endParaRPr lang="en-US" sz="1200" dirty="0"/>
          </a:p>
        </p:txBody>
      </p:sp>
      <p:sp>
        <p:nvSpPr>
          <p:cNvPr id="15" name="Text 9"/>
          <p:cNvSpPr/>
          <p:nvPr/>
        </p:nvSpPr>
        <p:spPr>
          <a:xfrm>
            <a:off x="7516297" y="1849279"/>
            <a:ext cx="3582353" cy="396954"/>
          </a:xfrm>
          <a:prstGeom prst="rect">
            <a:avLst/>
          </a:prstGeom>
          <a:noFill/>
          <a:ln/>
        </p:spPr>
        <p:txBody>
          <a:bodyPr wrap="squar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Maintains details of vehicles registered by drivers including insurance and capacity.</a:t>
            </a:r>
            <a:endParaRPr lang="en-US" sz="950" dirty="0"/>
          </a:p>
        </p:txBody>
      </p:sp>
      <p:sp>
        <p:nvSpPr>
          <p:cNvPr id="16" name="Shape 10"/>
          <p:cNvSpPr/>
          <p:nvPr/>
        </p:nvSpPr>
        <p:spPr>
          <a:xfrm>
            <a:off x="3392567" y="2893814"/>
            <a:ext cx="3860602" cy="1114306"/>
          </a:xfrm>
          <a:prstGeom prst="roundRect">
            <a:avLst>
              <a:gd name="adj" fmla="val 6565"/>
            </a:avLst>
          </a:prstGeom>
          <a:solidFill>
            <a:srgbClr val="FFFFFF">
              <a:alpha val="95000"/>
            </a:srgbClr>
          </a:solidFill>
          <a:ln/>
        </p:spPr>
      </p:sp>
      <p:pic>
        <p:nvPicPr>
          <p:cNvPr id="17" name="Image 4" descr="preencoded.png"/>
          <p:cNvPicPr>
            <a:picLocks noChangeAspect="1"/>
          </p:cNvPicPr>
          <p:nvPr/>
        </p:nvPicPr>
        <p:blipFill>
          <a:blip r:embed="rId3"/>
          <a:stretch>
            <a:fillRect/>
          </a:stretch>
        </p:blipFill>
        <p:spPr>
          <a:xfrm>
            <a:off x="3392567" y="2878574"/>
            <a:ext cx="3860602" cy="60960"/>
          </a:xfrm>
          <a:prstGeom prst="rect">
            <a:avLst/>
          </a:prstGeom>
        </p:spPr>
      </p:pic>
      <p:pic>
        <p:nvPicPr>
          <p:cNvPr id="18" name="Image 5" descr="preencoded.png"/>
          <p:cNvPicPr>
            <a:picLocks noChangeAspect="1"/>
          </p:cNvPicPr>
          <p:nvPr/>
        </p:nvPicPr>
        <p:blipFill>
          <a:blip r:embed="rId4"/>
          <a:stretch>
            <a:fillRect/>
          </a:stretch>
        </p:blipFill>
        <p:spPr>
          <a:xfrm>
            <a:off x="5136773" y="2707838"/>
            <a:ext cx="372070" cy="372070"/>
          </a:xfrm>
          <a:prstGeom prst="rect">
            <a:avLst/>
          </a:prstGeom>
        </p:spPr>
      </p:pic>
      <p:sp>
        <p:nvSpPr>
          <p:cNvPr id="19" name="Text 11"/>
          <p:cNvSpPr/>
          <p:nvPr/>
        </p:nvSpPr>
        <p:spPr>
          <a:xfrm>
            <a:off x="5248335" y="2800826"/>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3</a:t>
            </a:r>
            <a:endParaRPr lang="en-US" sz="1150" dirty="0"/>
          </a:p>
        </p:txBody>
      </p:sp>
      <p:sp>
        <p:nvSpPr>
          <p:cNvPr id="20" name="Text 12"/>
          <p:cNvSpPr/>
          <p:nvPr/>
        </p:nvSpPr>
        <p:spPr>
          <a:xfrm>
            <a:off x="3531751" y="3203853"/>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Trip</a:t>
            </a:r>
            <a:endParaRPr lang="en-US" sz="1200" dirty="0"/>
          </a:p>
        </p:txBody>
      </p:sp>
      <p:sp>
        <p:nvSpPr>
          <p:cNvPr id="21" name="Text 13"/>
          <p:cNvSpPr/>
          <p:nvPr/>
        </p:nvSpPr>
        <p:spPr>
          <a:xfrm>
            <a:off x="3531751" y="3471982"/>
            <a:ext cx="3582233" cy="396954"/>
          </a:xfrm>
          <a:prstGeom prst="rect">
            <a:avLst/>
          </a:prstGeom>
          <a:noFill/>
          <a:ln/>
        </p:spPr>
        <p:txBody>
          <a:bodyPr wrap="squar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Stores ride information such as route, timing, price, and seat availability.</a:t>
            </a:r>
            <a:endParaRPr lang="en-US" sz="950" dirty="0"/>
          </a:p>
        </p:txBody>
      </p:sp>
      <p:sp>
        <p:nvSpPr>
          <p:cNvPr id="22" name="Shape 14"/>
          <p:cNvSpPr/>
          <p:nvPr/>
        </p:nvSpPr>
        <p:spPr>
          <a:xfrm>
            <a:off x="7377113" y="2893814"/>
            <a:ext cx="3860721" cy="1114306"/>
          </a:xfrm>
          <a:prstGeom prst="roundRect">
            <a:avLst>
              <a:gd name="adj" fmla="val 6565"/>
            </a:avLst>
          </a:prstGeom>
          <a:solidFill>
            <a:srgbClr val="FFFFFF">
              <a:alpha val="95000"/>
            </a:srgbClr>
          </a:solidFill>
          <a:ln/>
        </p:spPr>
      </p:sp>
      <p:pic>
        <p:nvPicPr>
          <p:cNvPr id="23" name="Image 6" descr="preencoded.png"/>
          <p:cNvPicPr>
            <a:picLocks noChangeAspect="1"/>
          </p:cNvPicPr>
          <p:nvPr/>
        </p:nvPicPr>
        <p:blipFill>
          <a:blip r:embed="rId3"/>
          <a:stretch>
            <a:fillRect/>
          </a:stretch>
        </p:blipFill>
        <p:spPr>
          <a:xfrm>
            <a:off x="7377113" y="2878574"/>
            <a:ext cx="3860721" cy="60960"/>
          </a:xfrm>
          <a:prstGeom prst="rect">
            <a:avLst/>
          </a:prstGeom>
        </p:spPr>
      </p:pic>
      <p:pic>
        <p:nvPicPr>
          <p:cNvPr id="24" name="Image 7" descr="preencoded.png"/>
          <p:cNvPicPr>
            <a:picLocks noChangeAspect="1"/>
          </p:cNvPicPr>
          <p:nvPr/>
        </p:nvPicPr>
        <p:blipFill>
          <a:blip r:embed="rId4"/>
          <a:stretch>
            <a:fillRect/>
          </a:stretch>
        </p:blipFill>
        <p:spPr>
          <a:xfrm>
            <a:off x="9121438" y="2707838"/>
            <a:ext cx="372070" cy="372070"/>
          </a:xfrm>
          <a:prstGeom prst="rect">
            <a:avLst/>
          </a:prstGeom>
        </p:spPr>
      </p:pic>
      <p:sp>
        <p:nvSpPr>
          <p:cNvPr id="25" name="Text 15"/>
          <p:cNvSpPr/>
          <p:nvPr/>
        </p:nvSpPr>
        <p:spPr>
          <a:xfrm>
            <a:off x="9232999" y="2800826"/>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4</a:t>
            </a:r>
            <a:endParaRPr lang="en-US" sz="1150" dirty="0"/>
          </a:p>
        </p:txBody>
      </p:sp>
      <p:sp>
        <p:nvSpPr>
          <p:cNvPr id="26" name="Text 16"/>
          <p:cNvSpPr/>
          <p:nvPr/>
        </p:nvSpPr>
        <p:spPr>
          <a:xfrm>
            <a:off x="7516297" y="3203853"/>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Booking</a:t>
            </a:r>
            <a:endParaRPr lang="en-US" sz="1200" dirty="0"/>
          </a:p>
        </p:txBody>
      </p:sp>
      <p:sp>
        <p:nvSpPr>
          <p:cNvPr id="27" name="Text 17"/>
          <p:cNvSpPr/>
          <p:nvPr/>
        </p:nvSpPr>
        <p:spPr>
          <a:xfrm>
            <a:off x="7516297" y="3471982"/>
            <a:ext cx="3582353" cy="396954"/>
          </a:xfrm>
          <a:prstGeom prst="rect">
            <a:avLst/>
          </a:prstGeom>
          <a:noFill/>
          <a:ln/>
        </p:spPr>
        <p:txBody>
          <a:bodyPr wrap="squar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Handles reservations made by passengers and links them with trips and payments.</a:t>
            </a:r>
            <a:endParaRPr lang="en-US" sz="950" dirty="0"/>
          </a:p>
        </p:txBody>
      </p:sp>
      <p:sp>
        <p:nvSpPr>
          <p:cNvPr id="28" name="Shape 18"/>
          <p:cNvSpPr/>
          <p:nvPr/>
        </p:nvSpPr>
        <p:spPr>
          <a:xfrm>
            <a:off x="3392567" y="4318040"/>
            <a:ext cx="3860602" cy="1114306"/>
          </a:xfrm>
          <a:prstGeom prst="roundRect">
            <a:avLst>
              <a:gd name="adj" fmla="val 6565"/>
            </a:avLst>
          </a:prstGeom>
          <a:solidFill>
            <a:srgbClr val="FFFFFF">
              <a:alpha val="95000"/>
            </a:srgbClr>
          </a:solidFill>
          <a:ln/>
        </p:spPr>
      </p:sp>
      <p:pic>
        <p:nvPicPr>
          <p:cNvPr id="29" name="Image 8" descr="preencoded.png"/>
          <p:cNvPicPr>
            <a:picLocks noChangeAspect="1"/>
          </p:cNvPicPr>
          <p:nvPr/>
        </p:nvPicPr>
        <p:blipFill>
          <a:blip r:embed="rId3"/>
          <a:stretch>
            <a:fillRect/>
          </a:stretch>
        </p:blipFill>
        <p:spPr>
          <a:xfrm>
            <a:off x="3392567" y="4302800"/>
            <a:ext cx="3860602" cy="60960"/>
          </a:xfrm>
          <a:prstGeom prst="rect">
            <a:avLst/>
          </a:prstGeom>
        </p:spPr>
      </p:pic>
      <p:pic>
        <p:nvPicPr>
          <p:cNvPr id="30" name="Image 9" descr="preencoded.png"/>
          <p:cNvPicPr>
            <a:picLocks noChangeAspect="1"/>
          </p:cNvPicPr>
          <p:nvPr/>
        </p:nvPicPr>
        <p:blipFill>
          <a:blip r:embed="rId4"/>
          <a:stretch>
            <a:fillRect/>
          </a:stretch>
        </p:blipFill>
        <p:spPr>
          <a:xfrm>
            <a:off x="5136773" y="4132064"/>
            <a:ext cx="372070" cy="372070"/>
          </a:xfrm>
          <a:prstGeom prst="rect">
            <a:avLst/>
          </a:prstGeom>
        </p:spPr>
      </p:pic>
      <p:sp>
        <p:nvSpPr>
          <p:cNvPr id="31" name="Text 19"/>
          <p:cNvSpPr/>
          <p:nvPr/>
        </p:nvSpPr>
        <p:spPr>
          <a:xfrm>
            <a:off x="5248335" y="4225052"/>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5</a:t>
            </a:r>
            <a:endParaRPr lang="en-US" sz="1150" dirty="0"/>
          </a:p>
        </p:txBody>
      </p:sp>
      <p:sp>
        <p:nvSpPr>
          <p:cNvPr id="32" name="Text 20"/>
          <p:cNvSpPr/>
          <p:nvPr/>
        </p:nvSpPr>
        <p:spPr>
          <a:xfrm>
            <a:off x="3531751" y="4628078"/>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Payment</a:t>
            </a:r>
            <a:endParaRPr lang="en-US" sz="1200" dirty="0"/>
          </a:p>
        </p:txBody>
      </p:sp>
      <p:sp>
        <p:nvSpPr>
          <p:cNvPr id="33" name="Text 21"/>
          <p:cNvSpPr/>
          <p:nvPr/>
        </p:nvSpPr>
        <p:spPr>
          <a:xfrm>
            <a:off x="3531751" y="4896207"/>
            <a:ext cx="3582233" cy="396954"/>
          </a:xfrm>
          <a:prstGeom prst="rect">
            <a:avLst/>
          </a:prstGeom>
          <a:noFill/>
          <a:ln/>
        </p:spPr>
        <p:txBody>
          <a:bodyPr wrap="squar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Manages all transaction details including Razorpay integration.</a:t>
            </a:r>
            <a:endParaRPr lang="en-US" sz="950" dirty="0"/>
          </a:p>
        </p:txBody>
      </p:sp>
      <p:sp>
        <p:nvSpPr>
          <p:cNvPr id="34" name="Shape 22"/>
          <p:cNvSpPr/>
          <p:nvPr/>
        </p:nvSpPr>
        <p:spPr>
          <a:xfrm>
            <a:off x="7377113" y="4318040"/>
            <a:ext cx="3860721" cy="1114306"/>
          </a:xfrm>
          <a:prstGeom prst="roundRect">
            <a:avLst>
              <a:gd name="adj" fmla="val 6565"/>
            </a:avLst>
          </a:prstGeom>
          <a:solidFill>
            <a:srgbClr val="FFFFFF">
              <a:alpha val="95000"/>
            </a:srgbClr>
          </a:solidFill>
          <a:ln/>
        </p:spPr>
      </p:sp>
      <p:pic>
        <p:nvPicPr>
          <p:cNvPr id="35" name="Image 10" descr="preencoded.png"/>
          <p:cNvPicPr>
            <a:picLocks noChangeAspect="1"/>
          </p:cNvPicPr>
          <p:nvPr/>
        </p:nvPicPr>
        <p:blipFill>
          <a:blip r:embed="rId3"/>
          <a:stretch>
            <a:fillRect/>
          </a:stretch>
        </p:blipFill>
        <p:spPr>
          <a:xfrm>
            <a:off x="7377113" y="4302800"/>
            <a:ext cx="3860721" cy="60960"/>
          </a:xfrm>
          <a:prstGeom prst="rect">
            <a:avLst/>
          </a:prstGeom>
        </p:spPr>
      </p:pic>
      <p:pic>
        <p:nvPicPr>
          <p:cNvPr id="36" name="Image 11" descr="preencoded.png"/>
          <p:cNvPicPr>
            <a:picLocks noChangeAspect="1"/>
          </p:cNvPicPr>
          <p:nvPr/>
        </p:nvPicPr>
        <p:blipFill>
          <a:blip r:embed="rId4"/>
          <a:stretch>
            <a:fillRect/>
          </a:stretch>
        </p:blipFill>
        <p:spPr>
          <a:xfrm>
            <a:off x="9121438" y="4132064"/>
            <a:ext cx="372070" cy="372070"/>
          </a:xfrm>
          <a:prstGeom prst="rect">
            <a:avLst/>
          </a:prstGeom>
        </p:spPr>
      </p:pic>
      <p:sp>
        <p:nvSpPr>
          <p:cNvPr id="37" name="Text 23"/>
          <p:cNvSpPr/>
          <p:nvPr/>
        </p:nvSpPr>
        <p:spPr>
          <a:xfrm>
            <a:off x="9232999" y="4225052"/>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6</a:t>
            </a:r>
            <a:endParaRPr lang="en-US" sz="1150" dirty="0"/>
          </a:p>
        </p:txBody>
      </p:sp>
      <p:sp>
        <p:nvSpPr>
          <p:cNvPr id="38" name="Text 24"/>
          <p:cNvSpPr/>
          <p:nvPr/>
        </p:nvSpPr>
        <p:spPr>
          <a:xfrm>
            <a:off x="7516297" y="4628078"/>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Rating</a:t>
            </a:r>
            <a:endParaRPr lang="en-US" sz="1200" dirty="0"/>
          </a:p>
        </p:txBody>
      </p:sp>
      <p:sp>
        <p:nvSpPr>
          <p:cNvPr id="39" name="Text 25"/>
          <p:cNvSpPr/>
          <p:nvPr/>
        </p:nvSpPr>
        <p:spPr>
          <a:xfrm>
            <a:off x="7516297" y="4896207"/>
            <a:ext cx="3582353" cy="198477"/>
          </a:xfrm>
          <a:prstGeom prst="rect">
            <a:avLst/>
          </a:prstGeom>
          <a:noFill/>
          <a:ln/>
        </p:spPr>
        <p:txBody>
          <a:bodyPr wrap="non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Allows users to provide feedback after trip completion.</a:t>
            </a:r>
            <a:endParaRPr lang="en-US" sz="950" dirty="0"/>
          </a:p>
        </p:txBody>
      </p:sp>
      <p:sp>
        <p:nvSpPr>
          <p:cNvPr id="40" name="Shape 26"/>
          <p:cNvSpPr/>
          <p:nvPr/>
        </p:nvSpPr>
        <p:spPr>
          <a:xfrm>
            <a:off x="3392567" y="5742265"/>
            <a:ext cx="3860602" cy="915829"/>
          </a:xfrm>
          <a:prstGeom prst="roundRect">
            <a:avLst>
              <a:gd name="adj" fmla="val 7988"/>
            </a:avLst>
          </a:prstGeom>
          <a:solidFill>
            <a:srgbClr val="FFFFFF">
              <a:alpha val="95000"/>
            </a:srgbClr>
          </a:solidFill>
          <a:ln/>
        </p:spPr>
      </p:sp>
      <p:pic>
        <p:nvPicPr>
          <p:cNvPr id="41" name="Image 12" descr="preencoded.png"/>
          <p:cNvPicPr>
            <a:picLocks noChangeAspect="1"/>
          </p:cNvPicPr>
          <p:nvPr/>
        </p:nvPicPr>
        <p:blipFill>
          <a:blip r:embed="rId3"/>
          <a:stretch>
            <a:fillRect/>
          </a:stretch>
        </p:blipFill>
        <p:spPr>
          <a:xfrm>
            <a:off x="3392567" y="5727025"/>
            <a:ext cx="3860602" cy="60960"/>
          </a:xfrm>
          <a:prstGeom prst="rect">
            <a:avLst/>
          </a:prstGeom>
        </p:spPr>
      </p:pic>
      <p:pic>
        <p:nvPicPr>
          <p:cNvPr id="42" name="Image 13" descr="preencoded.png"/>
          <p:cNvPicPr>
            <a:picLocks noChangeAspect="1"/>
          </p:cNvPicPr>
          <p:nvPr/>
        </p:nvPicPr>
        <p:blipFill>
          <a:blip r:embed="rId4"/>
          <a:stretch>
            <a:fillRect/>
          </a:stretch>
        </p:blipFill>
        <p:spPr>
          <a:xfrm>
            <a:off x="5136773" y="5556290"/>
            <a:ext cx="372070" cy="372070"/>
          </a:xfrm>
          <a:prstGeom prst="rect">
            <a:avLst/>
          </a:prstGeom>
        </p:spPr>
      </p:pic>
      <p:sp>
        <p:nvSpPr>
          <p:cNvPr id="43" name="Text 27"/>
          <p:cNvSpPr/>
          <p:nvPr/>
        </p:nvSpPr>
        <p:spPr>
          <a:xfrm>
            <a:off x="5248335" y="5649278"/>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7</a:t>
            </a:r>
            <a:endParaRPr lang="en-US" sz="1150" dirty="0"/>
          </a:p>
        </p:txBody>
      </p:sp>
      <p:sp>
        <p:nvSpPr>
          <p:cNvPr id="44" name="Text 28"/>
          <p:cNvSpPr/>
          <p:nvPr/>
        </p:nvSpPr>
        <p:spPr>
          <a:xfrm>
            <a:off x="3531751" y="6052304"/>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Notification</a:t>
            </a:r>
            <a:endParaRPr lang="en-US" sz="1200" dirty="0"/>
          </a:p>
        </p:txBody>
      </p:sp>
      <p:sp>
        <p:nvSpPr>
          <p:cNvPr id="45" name="Text 29"/>
          <p:cNvSpPr/>
          <p:nvPr/>
        </p:nvSpPr>
        <p:spPr>
          <a:xfrm>
            <a:off x="3531751" y="6320433"/>
            <a:ext cx="3582233" cy="198477"/>
          </a:xfrm>
          <a:prstGeom prst="rect">
            <a:avLst/>
          </a:prstGeom>
          <a:noFill/>
          <a:ln/>
        </p:spPr>
        <p:txBody>
          <a:bodyPr wrap="non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Handles system alerts and user notifications.</a:t>
            </a:r>
            <a:endParaRPr lang="en-US" sz="950" dirty="0"/>
          </a:p>
        </p:txBody>
      </p:sp>
      <p:sp>
        <p:nvSpPr>
          <p:cNvPr id="46" name="Shape 30"/>
          <p:cNvSpPr/>
          <p:nvPr/>
        </p:nvSpPr>
        <p:spPr>
          <a:xfrm>
            <a:off x="7377113" y="5742265"/>
            <a:ext cx="3860721" cy="915829"/>
          </a:xfrm>
          <a:prstGeom prst="roundRect">
            <a:avLst>
              <a:gd name="adj" fmla="val 7988"/>
            </a:avLst>
          </a:prstGeom>
          <a:solidFill>
            <a:srgbClr val="FFFFFF">
              <a:alpha val="95000"/>
            </a:srgbClr>
          </a:solidFill>
          <a:ln/>
        </p:spPr>
      </p:sp>
      <p:pic>
        <p:nvPicPr>
          <p:cNvPr id="47" name="Image 14" descr="preencoded.png"/>
          <p:cNvPicPr>
            <a:picLocks noChangeAspect="1"/>
          </p:cNvPicPr>
          <p:nvPr/>
        </p:nvPicPr>
        <p:blipFill>
          <a:blip r:embed="rId3"/>
          <a:stretch>
            <a:fillRect/>
          </a:stretch>
        </p:blipFill>
        <p:spPr>
          <a:xfrm>
            <a:off x="7377113" y="5727025"/>
            <a:ext cx="3860721" cy="60960"/>
          </a:xfrm>
          <a:prstGeom prst="rect">
            <a:avLst/>
          </a:prstGeom>
        </p:spPr>
      </p:pic>
      <p:pic>
        <p:nvPicPr>
          <p:cNvPr id="48" name="Image 15" descr="preencoded.png"/>
          <p:cNvPicPr>
            <a:picLocks noChangeAspect="1"/>
          </p:cNvPicPr>
          <p:nvPr/>
        </p:nvPicPr>
        <p:blipFill>
          <a:blip r:embed="rId4"/>
          <a:stretch>
            <a:fillRect/>
          </a:stretch>
        </p:blipFill>
        <p:spPr>
          <a:xfrm>
            <a:off x="9121438" y="5556290"/>
            <a:ext cx="372070" cy="372070"/>
          </a:xfrm>
          <a:prstGeom prst="rect">
            <a:avLst/>
          </a:prstGeom>
        </p:spPr>
      </p:pic>
      <p:sp>
        <p:nvSpPr>
          <p:cNvPr id="49" name="Text 31"/>
          <p:cNvSpPr/>
          <p:nvPr/>
        </p:nvSpPr>
        <p:spPr>
          <a:xfrm>
            <a:off x="9232999" y="5649278"/>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8</a:t>
            </a:r>
            <a:endParaRPr lang="en-US" sz="1150" dirty="0"/>
          </a:p>
        </p:txBody>
      </p:sp>
      <p:sp>
        <p:nvSpPr>
          <p:cNvPr id="50" name="Text 32"/>
          <p:cNvSpPr/>
          <p:nvPr/>
        </p:nvSpPr>
        <p:spPr>
          <a:xfrm>
            <a:off x="7516297" y="6052304"/>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Emergency Alert</a:t>
            </a:r>
            <a:endParaRPr lang="en-US" sz="1200" dirty="0"/>
          </a:p>
        </p:txBody>
      </p:sp>
      <p:sp>
        <p:nvSpPr>
          <p:cNvPr id="51" name="Text 33"/>
          <p:cNvSpPr/>
          <p:nvPr/>
        </p:nvSpPr>
        <p:spPr>
          <a:xfrm>
            <a:off x="7516297" y="6320433"/>
            <a:ext cx="3582353" cy="198477"/>
          </a:xfrm>
          <a:prstGeom prst="rect">
            <a:avLst/>
          </a:prstGeom>
          <a:noFill/>
          <a:ln/>
        </p:spPr>
        <p:txBody>
          <a:bodyPr wrap="non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Provides SOS functionality for safety during travel.</a:t>
            </a:r>
            <a:endParaRPr lang="en-US" sz="950" dirty="0"/>
          </a:p>
        </p:txBody>
      </p:sp>
      <p:sp>
        <p:nvSpPr>
          <p:cNvPr id="52" name="Shape 34"/>
          <p:cNvSpPr/>
          <p:nvPr/>
        </p:nvSpPr>
        <p:spPr>
          <a:xfrm>
            <a:off x="3392567" y="6968014"/>
            <a:ext cx="3860602" cy="915829"/>
          </a:xfrm>
          <a:prstGeom prst="roundRect">
            <a:avLst>
              <a:gd name="adj" fmla="val 7988"/>
            </a:avLst>
          </a:prstGeom>
          <a:solidFill>
            <a:srgbClr val="FFFFFF">
              <a:alpha val="95000"/>
            </a:srgbClr>
          </a:solidFill>
          <a:ln/>
        </p:spPr>
      </p:sp>
      <p:pic>
        <p:nvPicPr>
          <p:cNvPr id="53" name="Image 16" descr="preencoded.png"/>
          <p:cNvPicPr>
            <a:picLocks noChangeAspect="1"/>
          </p:cNvPicPr>
          <p:nvPr/>
        </p:nvPicPr>
        <p:blipFill>
          <a:blip r:embed="rId3"/>
          <a:stretch>
            <a:fillRect/>
          </a:stretch>
        </p:blipFill>
        <p:spPr>
          <a:xfrm>
            <a:off x="3392567" y="6952774"/>
            <a:ext cx="3860602" cy="60960"/>
          </a:xfrm>
          <a:prstGeom prst="rect">
            <a:avLst/>
          </a:prstGeom>
        </p:spPr>
      </p:pic>
      <p:pic>
        <p:nvPicPr>
          <p:cNvPr id="54" name="Image 17" descr="preencoded.png"/>
          <p:cNvPicPr>
            <a:picLocks noChangeAspect="1"/>
          </p:cNvPicPr>
          <p:nvPr/>
        </p:nvPicPr>
        <p:blipFill>
          <a:blip r:embed="rId4"/>
          <a:stretch>
            <a:fillRect/>
          </a:stretch>
        </p:blipFill>
        <p:spPr>
          <a:xfrm>
            <a:off x="5136773" y="6782038"/>
            <a:ext cx="372070" cy="372070"/>
          </a:xfrm>
          <a:prstGeom prst="rect">
            <a:avLst/>
          </a:prstGeom>
        </p:spPr>
      </p:pic>
      <p:sp>
        <p:nvSpPr>
          <p:cNvPr id="55" name="Text 35"/>
          <p:cNvSpPr/>
          <p:nvPr/>
        </p:nvSpPr>
        <p:spPr>
          <a:xfrm>
            <a:off x="5248335" y="6875026"/>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9</a:t>
            </a:r>
            <a:endParaRPr lang="en-US" sz="1150" dirty="0"/>
          </a:p>
        </p:txBody>
      </p:sp>
      <p:sp>
        <p:nvSpPr>
          <p:cNvPr id="56" name="Text 36"/>
          <p:cNvSpPr/>
          <p:nvPr/>
        </p:nvSpPr>
        <p:spPr>
          <a:xfrm>
            <a:off x="3531751" y="7278053"/>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Contact Message</a:t>
            </a:r>
            <a:endParaRPr lang="en-US" sz="1200" dirty="0"/>
          </a:p>
        </p:txBody>
      </p:sp>
      <p:sp>
        <p:nvSpPr>
          <p:cNvPr id="57" name="Text 37"/>
          <p:cNvSpPr/>
          <p:nvPr/>
        </p:nvSpPr>
        <p:spPr>
          <a:xfrm>
            <a:off x="3531751" y="7546181"/>
            <a:ext cx="3582233" cy="198477"/>
          </a:xfrm>
          <a:prstGeom prst="rect">
            <a:avLst/>
          </a:prstGeom>
          <a:noFill/>
          <a:ln/>
        </p:spPr>
        <p:txBody>
          <a:bodyPr wrap="non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Stores user queries and support requests.</a:t>
            </a:r>
            <a:endParaRPr lang="en-US" sz="950" dirty="0"/>
          </a:p>
        </p:txBody>
      </p:sp>
      <p:sp>
        <p:nvSpPr>
          <p:cNvPr id="58" name="Shape 38"/>
          <p:cNvSpPr/>
          <p:nvPr/>
        </p:nvSpPr>
        <p:spPr>
          <a:xfrm>
            <a:off x="7377113" y="6968014"/>
            <a:ext cx="3860721" cy="915829"/>
          </a:xfrm>
          <a:prstGeom prst="roundRect">
            <a:avLst>
              <a:gd name="adj" fmla="val 7988"/>
            </a:avLst>
          </a:prstGeom>
          <a:solidFill>
            <a:srgbClr val="FFFFFF">
              <a:alpha val="95000"/>
            </a:srgbClr>
          </a:solidFill>
          <a:ln/>
        </p:spPr>
      </p:sp>
      <p:pic>
        <p:nvPicPr>
          <p:cNvPr id="59" name="Image 18" descr="preencoded.png"/>
          <p:cNvPicPr>
            <a:picLocks noChangeAspect="1"/>
          </p:cNvPicPr>
          <p:nvPr/>
        </p:nvPicPr>
        <p:blipFill>
          <a:blip r:embed="rId3"/>
          <a:stretch>
            <a:fillRect/>
          </a:stretch>
        </p:blipFill>
        <p:spPr>
          <a:xfrm>
            <a:off x="7377113" y="6952774"/>
            <a:ext cx="3860721" cy="60960"/>
          </a:xfrm>
          <a:prstGeom prst="rect">
            <a:avLst/>
          </a:prstGeom>
        </p:spPr>
      </p:pic>
      <p:pic>
        <p:nvPicPr>
          <p:cNvPr id="60" name="Image 19" descr="preencoded.png"/>
          <p:cNvPicPr>
            <a:picLocks noChangeAspect="1"/>
          </p:cNvPicPr>
          <p:nvPr/>
        </p:nvPicPr>
        <p:blipFill>
          <a:blip r:embed="rId4"/>
          <a:stretch>
            <a:fillRect/>
          </a:stretch>
        </p:blipFill>
        <p:spPr>
          <a:xfrm>
            <a:off x="9121438" y="6782038"/>
            <a:ext cx="372070" cy="372070"/>
          </a:xfrm>
          <a:prstGeom prst="rect">
            <a:avLst/>
          </a:prstGeom>
        </p:spPr>
      </p:pic>
      <p:sp>
        <p:nvSpPr>
          <p:cNvPr id="61" name="Text 39"/>
          <p:cNvSpPr/>
          <p:nvPr/>
        </p:nvSpPr>
        <p:spPr>
          <a:xfrm>
            <a:off x="9232999" y="6875026"/>
            <a:ext cx="148828" cy="185976"/>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Bricolage Grotesque Semi Bold" pitchFamily="34" charset="0"/>
                <a:ea typeface="Bricolage Grotesque Semi Bold" pitchFamily="34" charset="-122"/>
                <a:cs typeface="Bricolage Grotesque Semi Bold" pitchFamily="34" charset="-120"/>
              </a:rPr>
              <a:t>10</a:t>
            </a:r>
            <a:endParaRPr lang="en-US" sz="1150" dirty="0"/>
          </a:p>
        </p:txBody>
      </p:sp>
      <p:sp>
        <p:nvSpPr>
          <p:cNvPr id="62" name="Text 40"/>
          <p:cNvSpPr/>
          <p:nvPr/>
        </p:nvSpPr>
        <p:spPr>
          <a:xfrm>
            <a:off x="7516297" y="7278053"/>
            <a:ext cx="1550432" cy="193715"/>
          </a:xfrm>
          <a:prstGeom prst="rect">
            <a:avLst/>
          </a:prstGeom>
          <a:noFill/>
          <a:ln/>
        </p:spPr>
        <p:txBody>
          <a:bodyPr wrap="none" lIns="0" tIns="0" rIns="0" bIns="0" rtlCol="0" anchor="t"/>
          <a:lstStyle/>
          <a:p>
            <a:pPr marL="0" indent="0" algn="l">
              <a:lnSpc>
                <a:spcPts val="1500"/>
              </a:lnSpc>
              <a:buNone/>
            </a:pPr>
            <a:r>
              <a:rPr lang="en-US" sz="1200" dirty="0">
                <a:solidFill>
                  <a:srgbClr val="2C2926"/>
                </a:solidFill>
                <a:latin typeface="Bricolage Grotesque Semi Bold" pitchFamily="34" charset="0"/>
                <a:ea typeface="Bricolage Grotesque Semi Bold" pitchFamily="34" charset="-122"/>
                <a:cs typeface="Bricolage Grotesque Semi Bold" pitchFamily="34" charset="-120"/>
              </a:rPr>
              <a:t>Complaint</a:t>
            </a:r>
            <a:endParaRPr lang="en-US" sz="1200" dirty="0"/>
          </a:p>
        </p:txBody>
      </p:sp>
      <p:sp>
        <p:nvSpPr>
          <p:cNvPr id="63" name="Text 41"/>
          <p:cNvSpPr/>
          <p:nvPr/>
        </p:nvSpPr>
        <p:spPr>
          <a:xfrm>
            <a:off x="7516297" y="7546181"/>
            <a:ext cx="3582353" cy="198477"/>
          </a:xfrm>
          <a:prstGeom prst="rect">
            <a:avLst/>
          </a:prstGeom>
          <a:noFill/>
          <a:ln/>
        </p:spPr>
        <p:txBody>
          <a:bodyPr wrap="none" lIns="0" tIns="0" rIns="0" bIns="0" rtlCol="0" anchor="t"/>
          <a:lstStyle/>
          <a:p>
            <a:pPr marL="0" indent="0" algn="l">
              <a:lnSpc>
                <a:spcPts val="1550"/>
              </a:lnSpc>
              <a:buNone/>
            </a:pPr>
            <a:r>
              <a:rPr lang="en-US" sz="950" dirty="0">
                <a:solidFill>
                  <a:srgbClr val="2C2926"/>
                </a:solidFill>
                <a:latin typeface="Inter" pitchFamily="34" charset="0"/>
                <a:ea typeface="Inter" pitchFamily="34" charset="-122"/>
                <a:cs typeface="Inter" pitchFamily="34" charset="-120"/>
              </a:rPr>
              <a:t>Handles user complaints and administrative actions.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59550"/>
            <a:ext cx="4371261" cy="354330"/>
          </a:xfrm>
          <a:prstGeom prst="rect">
            <a:avLst/>
          </a:prstGeom>
          <a:noFill/>
          <a:ln/>
        </p:spPr>
        <p:txBody>
          <a:bodyPr wrap="none" lIns="0" tIns="0" rIns="0" bIns="0" rtlCol="0" anchor="t"/>
          <a:lstStyle/>
          <a:p>
            <a:pPr marL="0" indent="0" algn="l">
              <a:lnSpc>
                <a:spcPts val="2750"/>
              </a:lnSpc>
              <a:buNone/>
            </a:pPr>
            <a:r>
              <a:rPr lang="en-US" sz="2200" dirty="0">
                <a:solidFill>
                  <a:srgbClr val="E7BF6A"/>
                </a:solidFill>
                <a:latin typeface="Bricolage Grotesque Semi Bold" pitchFamily="34" charset="0"/>
                <a:ea typeface="Bricolage Grotesque Semi Bold" pitchFamily="34" charset="-122"/>
                <a:cs typeface="Bricolage Grotesque Semi Bold" pitchFamily="34" charset="-120"/>
              </a:rPr>
              <a:t>1. API Documentation (Overview)</a:t>
            </a:r>
            <a:endParaRPr lang="en-US" sz="2200" dirty="0"/>
          </a:p>
        </p:txBody>
      </p:sp>
      <p:sp>
        <p:nvSpPr>
          <p:cNvPr id="3" name="Text 1"/>
          <p:cNvSpPr/>
          <p:nvPr/>
        </p:nvSpPr>
        <p:spPr>
          <a:xfrm>
            <a:off x="793790" y="1604605"/>
            <a:ext cx="5783223" cy="566976"/>
          </a:xfrm>
          <a:prstGeom prst="rect">
            <a:avLst/>
          </a:prstGeom>
          <a:noFill/>
          <a:ln/>
        </p:spPr>
        <p:txBody>
          <a:bodyPr wrap="none" lIns="0" tIns="0" rIns="0" bIns="0" rtlCol="0" anchor="t"/>
          <a:lstStyle/>
          <a:p>
            <a:pPr marL="0" indent="0" algn="l">
              <a:lnSpc>
                <a:spcPts val="4450"/>
              </a:lnSpc>
              <a:buNone/>
            </a:pPr>
            <a:r>
              <a:rPr lang="en-US" sz="3550" dirty="0">
                <a:solidFill>
                  <a:srgbClr val="2C2926"/>
                </a:solidFill>
                <a:latin typeface="Bricolage Grotesque Semi Bold" pitchFamily="34" charset="0"/>
                <a:ea typeface="Bricolage Grotesque Semi Bold" pitchFamily="34" charset="-122"/>
                <a:cs typeface="Bricolage Grotesque Semi Bold" pitchFamily="34" charset="-120"/>
              </a:rPr>
              <a:t>Well-Structured REST APIs</a:t>
            </a:r>
            <a:endParaRPr lang="en-US" sz="3550" dirty="0"/>
          </a:p>
        </p:txBody>
      </p:sp>
      <p:sp>
        <p:nvSpPr>
          <p:cNvPr id="4" name="Text 2"/>
          <p:cNvSpPr/>
          <p:nvPr/>
        </p:nvSpPr>
        <p:spPr>
          <a:xfrm>
            <a:off x="793790" y="2511742"/>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2C2926"/>
                </a:solidFill>
                <a:latin typeface="Inter" pitchFamily="34" charset="0"/>
                <a:ea typeface="Inter" pitchFamily="34" charset="-122"/>
                <a:cs typeface="Inter" pitchFamily="34" charset="-120"/>
              </a:rPr>
              <a:t>The system provides well-structured REST APIs for different modules:</a:t>
            </a:r>
            <a:endParaRPr lang="en-US" sz="2200" dirty="0"/>
          </a:p>
        </p:txBody>
      </p:sp>
      <p:sp>
        <p:nvSpPr>
          <p:cNvPr id="5" name="Text 3"/>
          <p:cNvSpPr/>
          <p:nvPr/>
        </p:nvSpPr>
        <p:spPr>
          <a:xfrm>
            <a:off x="793790" y="3424476"/>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Authentication APIs</a:t>
            </a:r>
            <a:r>
              <a:rPr lang="en-US" sz="1750" dirty="0">
                <a:solidFill>
                  <a:srgbClr val="2C2926"/>
                </a:solidFill>
                <a:latin typeface="Inter" pitchFamily="34" charset="0"/>
                <a:ea typeface="Inter" pitchFamily="34" charset="-122"/>
                <a:cs typeface="Inter" pitchFamily="34" charset="-120"/>
              </a:rPr>
              <a:t> – Registration, Login, OTP verification, Password reset</a:t>
            </a:r>
            <a:endParaRPr lang="en-US" sz="1750" dirty="0"/>
          </a:p>
        </p:txBody>
      </p:sp>
      <p:sp>
        <p:nvSpPr>
          <p:cNvPr id="6" name="Text 4"/>
          <p:cNvSpPr/>
          <p:nvPr/>
        </p:nvSpPr>
        <p:spPr>
          <a:xfrm>
            <a:off x="793790" y="422957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Trip APIs</a:t>
            </a:r>
            <a:r>
              <a:rPr lang="en-US" sz="1750" dirty="0">
                <a:solidFill>
                  <a:srgbClr val="2C2926"/>
                </a:solidFill>
                <a:latin typeface="Inter" pitchFamily="34" charset="0"/>
                <a:ea typeface="Inter" pitchFamily="34" charset="-122"/>
                <a:cs typeface="Inter" pitchFamily="34" charset="-120"/>
              </a:rPr>
              <a:t> – Create, update, cancel, search trips</a:t>
            </a:r>
            <a:endParaRPr lang="en-US" sz="1750" dirty="0"/>
          </a:p>
        </p:txBody>
      </p:sp>
      <p:sp>
        <p:nvSpPr>
          <p:cNvPr id="7" name="Text 5"/>
          <p:cNvSpPr/>
          <p:nvPr/>
        </p:nvSpPr>
        <p:spPr>
          <a:xfrm>
            <a:off x="793790" y="4671774"/>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Booking APIs</a:t>
            </a:r>
            <a:r>
              <a:rPr lang="en-US" sz="1750" dirty="0">
                <a:solidFill>
                  <a:srgbClr val="2C2926"/>
                </a:solidFill>
                <a:latin typeface="Inter" pitchFamily="34" charset="0"/>
                <a:ea typeface="Inter" pitchFamily="34" charset="-122"/>
                <a:cs typeface="Inter" pitchFamily="34" charset="-120"/>
              </a:rPr>
              <a:t> – Seat booking, confirmation, cancellation</a:t>
            </a:r>
            <a:endParaRPr lang="en-US" sz="1750" dirty="0"/>
          </a:p>
        </p:txBody>
      </p:sp>
      <p:sp>
        <p:nvSpPr>
          <p:cNvPr id="8" name="Text 6"/>
          <p:cNvSpPr/>
          <p:nvPr/>
        </p:nvSpPr>
        <p:spPr>
          <a:xfrm>
            <a:off x="793790" y="547687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Payment APIs</a:t>
            </a:r>
            <a:r>
              <a:rPr lang="en-US" sz="1750" dirty="0">
                <a:solidFill>
                  <a:srgbClr val="2C2926"/>
                </a:solidFill>
                <a:latin typeface="Inter" pitchFamily="34" charset="0"/>
                <a:ea typeface="Inter" pitchFamily="34" charset="-122"/>
                <a:cs typeface="Inter" pitchFamily="34" charset="-120"/>
              </a:rPr>
              <a:t> – Razorpay order, verification, refunds</a:t>
            </a:r>
            <a:endParaRPr lang="en-US" sz="1750" dirty="0"/>
          </a:p>
        </p:txBody>
      </p:sp>
      <p:sp>
        <p:nvSpPr>
          <p:cNvPr id="9" name="Text 7"/>
          <p:cNvSpPr/>
          <p:nvPr/>
        </p:nvSpPr>
        <p:spPr>
          <a:xfrm>
            <a:off x="793790" y="591907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Vehicle APIs</a:t>
            </a:r>
            <a:r>
              <a:rPr lang="en-US" sz="1750" dirty="0">
                <a:solidFill>
                  <a:srgbClr val="2C2926"/>
                </a:solidFill>
                <a:latin typeface="Inter" pitchFamily="34" charset="0"/>
                <a:ea typeface="Inter" pitchFamily="34" charset="-122"/>
                <a:cs typeface="Inter" pitchFamily="34" charset="-120"/>
              </a:rPr>
              <a:t> – Add, update, delete vehicles</a:t>
            </a:r>
            <a:endParaRPr lang="en-US" sz="1750" dirty="0"/>
          </a:p>
        </p:txBody>
      </p:sp>
      <p:sp>
        <p:nvSpPr>
          <p:cNvPr id="10" name="Text 8"/>
          <p:cNvSpPr/>
          <p:nvPr/>
        </p:nvSpPr>
        <p:spPr>
          <a:xfrm>
            <a:off x="7599521" y="342447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Rating APIs</a:t>
            </a:r>
            <a:r>
              <a:rPr lang="en-US" sz="1750" dirty="0">
                <a:solidFill>
                  <a:srgbClr val="2C2926"/>
                </a:solidFill>
                <a:latin typeface="Inter" pitchFamily="34" charset="0"/>
                <a:ea typeface="Inter" pitchFamily="34" charset="-122"/>
                <a:cs typeface="Inter" pitchFamily="34" charset="-120"/>
              </a:rPr>
              <a:t> – Submit and view ratings</a:t>
            </a:r>
            <a:endParaRPr lang="en-US" sz="1750" dirty="0"/>
          </a:p>
        </p:txBody>
      </p:sp>
      <p:sp>
        <p:nvSpPr>
          <p:cNvPr id="11" name="Text 9"/>
          <p:cNvSpPr/>
          <p:nvPr/>
        </p:nvSpPr>
        <p:spPr>
          <a:xfrm>
            <a:off x="7599521" y="386667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Notification APIs</a:t>
            </a:r>
            <a:r>
              <a:rPr lang="en-US" sz="1750" dirty="0">
                <a:solidFill>
                  <a:srgbClr val="2C2926"/>
                </a:solidFill>
                <a:latin typeface="Inter" pitchFamily="34" charset="0"/>
                <a:ea typeface="Inter" pitchFamily="34" charset="-122"/>
                <a:cs typeface="Inter" pitchFamily="34" charset="-120"/>
              </a:rPr>
              <a:t> – Alerts and announcements</a:t>
            </a:r>
            <a:endParaRPr lang="en-US" sz="1750" dirty="0"/>
          </a:p>
        </p:txBody>
      </p:sp>
      <p:sp>
        <p:nvSpPr>
          <p:cNvPr id="12" name="Text 10"/>
          <p:cNvSpPr/>
          <p:nvPr/>
        </p:nvSpPr>
        <p:spPr>
          <a:xfrm>
            <a:off x="7599521" y="430887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Emergency APIs</a:t>
            </a:r>
            <a:r>
              <a:rPr lang="en-US" sz="1750" dirty="0">
                <a:solidFill>
                  <a:srgbClr val="2C2926"/>
                </a:solidFill>
                <a:latin typeface="Inter" pitchFamily="34" charset="0"/>
                <a:ea typeface="Inter" pitchFamily="34" charset="-122"/>
                <a:cs typeface="Inter" pitchFamily="34" charset="-120"/>
              </a:rPr>
              <a:t> – SOS alerts and location tracking</a:t>
            </a:r>
            <a:endParaRPr lang="en-US" sz="1750" dirty="0"/>
          </a:p>
        </p:txBody>
      </p:sp>
      <p:sp>
        <p:nvSpPr>
          <p:cNvPr id="13" name="Text 11"/>
          <p:cNvSpPr/>
          <p:nvPr/>
        </p:nvSpPr>
        <p:spPr>
          <a:xfrm>
            <a:off x="7599521" y="475107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7BF6A"/>
                </a:solidFill>
                <a:latin typeface="Inter" pitchFamily="34" charset="0"/>
                <a:ea typeface="Inter" pitchFamily="34" charset="-122"/>
                <a:cs typeface="Inter" pitchFamily="34" charset="-120"/>
              </a:rPr>
              <a:t>Admin APIs</a:t>
            </a:r>
            <a:r>
              <a:rPr lang="en-US" sz="1750" dirty="0">
                <a:solidFill>
                  <a:srgbClr val="2C2926"/>
                </a:solidFill>
                <a:latin typeface="Inter" pitchFamily="34" charset="0"/>
                <a:ea typeface="Inter" pitchFamily="34" charset="-122"/>
                <a:cs typeface="Inter" pitchFamily="34" charset="-120"/>
              </a:rPr>
              <a:t> – User management and system monitoring</a:t>
            </a:r>
            <a:endParaRPr lang="en-US" sz="1750" dirty="0"/>
          </a:p>
        </p:txBody>
      </p:sp>
      <p:sp>
        <p:nvSpPr>
          <p:cNvPr id="14" name="Text 12"/>
          <p:cNvSpPr/>
          <p:nvPr/>
        </p:nvSpPr>
        <p:spPr>
          <a:xfrm>
            <a:off x="793790" y="6616422"/>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2C2926"/>
                </a:solidFill>
                <a:latin typeface="Inter" pitchFamily="34" charset="0"/>
                <a:ea typeface="Inter" pitchFamily="34" charset="-122"/>
                <a:cs typeface="Inter" pitchFamily="34" charset="-120"/>
              </a:rPr>
              <a:t>These APIs ensure modularity and smooth integration between frontend and backend.</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352074" y="518517"/>
            <a:ext cx="2356961" cy="294680"/>
          </a:xfrm>
          <a:prstGeom prst="rect">
            <a:avLst/>
          </a:prstGeom>
          <a:noFill/>
          <a:ln/>
        </p:spPr>
        <p:txBody>
          <a:bodyPr wrap="none" lIns="0" tIns="0" rIns="0" bIns="0" rtlCol="0" anchor="t"/>
          <a:lstStyle/>
          <a:p>
            <a:pPr marL="0" indent="0" algn="l">
              <a:lnSpc>
                <a:spcPts val="2300"/>
              </a:lnSpc>
              <a:buNone/>
            </a:pPr>
            <a:r>
              <a:rPr lang="en-US" sz="1850" dirty="0">
                <a:solidFill>
                  <a:srgbClr val="DFAB58"/>
                </a:solidFill>
                <a:latin typeface="Bricolage Grotesque Semi Bold" pitchFamily="34" charset="0"/>
                <a:ea typeface="Bricolage Grotesque Semi Bold" pitchFamily="34" charset="-122"/>
                <a:cs typeface="Bricolage Grotesque Semi Bold" pitchFamily="34" charset="-120"/>
              </a:rPr>
              <a:t>1. Frontend Modules</a:t>
            </a:r>
            <a:endParaRPr lang="en-US" sz="1850" dirty="0"/>
          </a:p>
        </p:txBody>
      </p:sp>
      <p:sp>
        <p:nvSpPr>
          <p:cNvPr id="3" name="Text 1"/>
          <p:cNvSpPr/>
          <p:nvPr/>
        </p:nvSpPr>
        <p:spPr>
          <a:xfrm>
            <a:off x="1352074" y="888563"/>
            <a:ext cx="5382339" cy="471249"/>
          </a:xfrm>
          <a:prstGeom prst="rect">
            <a:avLst/>
          </a:prstGeom>
          <a:noFill/>
          <a:ln/>
        </p:spPr>
        <p:txBody>
          <a:bodyPr wrap="none" lIns="0" tIns="0" rIns="0" bIns="0" rtlCol="0" anchor="t"/>
          <a:lstStyle/>
          <a:p>
            <a:pPr marL="0" indent="0" algn="l">
              <a:lnSpc>
                <a:spcPts val="3700"/>
              </a:lnSpc>
              <a:buNone/>
            </a:pPr>
            <a:r>
              <a:rPr lang="en-US" sz="2950" dirty="0">
                <a:solidFill>
                  <a:srgbClr val="2C2926"/>
                </a:solidFill>
                <a:latin typeface="Bricolage Grotesque Semi Bold" pitchFamily="34" charset="0"/>
                <a:ea typeface="Bricolage Grotesque Semi Bold" pitchFamily="34" charset="-122"/>
                <a:cs typeface="Bricolage Grotesque Semi Bold" pitchFamily="34" charset="-120"/>
              </a:rPr>
              <a:t>User-Centric Interface Design</a:t>
            </a:r>
            <a:endParaRPr lang="en-US" sz="2950" dirty="0"/>
          </a:p>
        </p:txBody>
      </p:sp>
      <p:sp>
        <p:nvSpPr>
          <p:cNvPr id="4" name="Shape 2"/>
          <p:cNvSpPr/>
          <p:nvPr/>
        </p:nvSpPr>
        <p:spPr>
          <a:xfrm>
            <a:off x="1352074" y="1642586"/>
            <a:ext cx="5868829" cy="3307675"/>
          </a:xfrm>
          <a:prstGeom prst="roundRect">
            <a:avLst>
              <a:gd name="adj" fmla="val 2394"/>
            </a:avLst>
          </a:prstGeom>
          <a:solidFill>
            <a:srgbClr val="FFFFFF"/>
          </a:solidFill>
          <a:ln w="7620">
            <a:solidFill>
              <a:srgbClr val="E7BF6A"/>
            </a:solidFill>
            <a:prstDash val="solid"/>
          </a:ln>
        </p:spPr>
      </p:sp>
      <p:sp>
        <p:nvSpPr>
          <p:cNvPr id="5" name="Text 3"/>
          <p:cNvSpPr/>
          <p:nvPr/>
        </p:nvSpPr>
        <p:spPr>
          <a:xfrm>
            <a:off x="1548170" y="1838682"/>
            <a:ext cx="2356961" cy="294680"/>
          </a:xfrm>
          <a:prstGeom prst="rect">
            <a:avLst/>
          </a:prstGeom>
          <a:noFill/>
          <a:ln/>
        </p:spPr>
        <p:txBody>
          <a:bodyPr wrap="none" lIns="0" tIns="0" rIns="0" bIns="0" rtlCol="0" anchor="t"/>
          <a:lstStyle/>
          <a:p>
            <a:pPr marL="0" indent="0" algn="l">
              <a:lnSpc>
                <a:spcPts val="2300"/>
              </a:lnSpc>
              <a:buNone/>
            </a:pPr>
            <a:r>
              <a:rPr lang="en-US" sz="1850" dirty="0">
                <a:solidFill>
                  <a:srgbClr val="2C2926"/>
                </a:solidFill>
                <a:latin typeface="Bricolage Grotesque Semi Bold" pitchFamily="34" charset="0"/>
                <a:ea typeface="Bricolage Grotesque Semi Bold" pitchFamily="34" charset="-122"/>
                <a:cs typeface="Bricolage Grotesque Semi Bold" pitchFamily="34" charset="-120"/>
              </a:rPr>
              <a:t>Public Module</a:t>
            </a:r>
            <a:endParaRPr lang="en-US" sz="1850" dirty="0"/>
          </a:p>
        </p:txBody>
      </p:sp>
      <p:sp>
        <p:nvSpPr>
          <p:cNvPr id="6" name="Text 4"/>
          <p:cNvSpPr/>
          <p:nvPr/>
        </p:nvSpPr>
        <p:spPr>
          <a:xfrm>
            <a:off x="1548170" y="2246471"/>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Home</a:t>
            </a:r>
            <a:endParaRPr lang="en-US" sz="1450" dirty="0"/>
          </a:p>
        </p:txBody>
      </p:sp>
      <p:sp>
        <p:nvSpPr>
          <p:cNvPr id="7" name="Text 5"/>
          <p:cNvSpPr/>
          <p:nvPr/>
        </p:nvSpPr>
        <p:spPr>
          <a:xfrm>
            <a:off x="1548170" y="2614136"/>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About</a:t>
            </a:r>
            <a:endParaRPr lang="en-US" sz="1450" dirty="0"/>
          </a:p>
        </p:txBody>
      </p:sp>
      <p:sp>
        <p:nvSpPr>
          <p:cNvPr id="8" name="Text 6"/>
          <p:cNvSpPr/>
          <p:nvPr/>
        </p:nvSpPr>
        <p:spPr>
          <a:xfrm>
            <a:off x="1548170" y="2981801"/>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Contact</a:t>
            </a:r>
            <a:endParaRPr lang="en-US" sz="1450" dirty="0"/>
          </a:p>
        </p:txBody>
      </p:sp>
      <p:sp>
        <p:nvSpPr>
          <p:cNvPr id="9" name="Text 7"/>
          <p:cNvSpPr/>
          <p:nvPr/>
        </p:nvSpPr>
        <p:spPr>
          <a:xfrm>
            <a:off x="1548170" y="3349466"/>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Login</a:t>
            </a:r>
            <a:endParaRPr lang="en-US" sz="1450" dirty="0"/>
          </a:p>
        </p:txBody>
      </p:sp>
      <p:sp>
        <p:nvSpPr>
          <p:cNvPr id="10" name="Text 8"/>
          <p:cNvSpPr/>
          <p:nvPr/>
        </p:nvSpPr>
        <p:spPr>
          <a:xfrm>
            <a:off x="1548170" y="3717131"/>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Register</a:t>
            </a:r>
            <a:endParaRPr lang="en-US" sz="1450" dirty="0"/>
          </a:p>
        </p:txBody>
      </p:sp>
      <p:sp>
        <p:nvSpPr>
          <p:cNvPr id="11" name="Text 9"/>
          <p:cNvSpPr/>
          <p:nvPr/>
        </p:nvSpPr>
        <p:spPr>
          <a:xfrm>
            <a:off x="1548170" y="4084796"/>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FAQ</a:t>
            </a:r>
            <a:endParaRPr lang="en-US" sz="1450" dirty="0"/>
          </a:p>
        </p:txBody>
      </p:sp>
      <p:sp>
        <p:nvSpPr>
          <p:cNvPr id="12" name="Text 10"/>
          <p:cNvSpPr/>
          <p:nvPr/>
        </p:nvSpPr>
        <p:spPr>
          <a:xfrm>
            <a:off x="1548170" y="4452461"/>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Privacy Policy</a:t>
            </a:r>
            <a:endParaRPr lang="en-US" sz="1450" dirty="0"/>
          </a:p>
        </p:txBody>
      </p:sp>
      <p:sp>
        <p:nvSpPr>
          <p:cNvPr id="13" name="Shape 11"/>
          <p:cNvSpPr/>
          <p:nvPr/>
        </p:nvSpPr>
        <p:spPr>
          <a:xfrm>
            <a:off x="7409378" y="1642586"/>
            <a:ext cx="5868948" cy="3307675"/>
          </a:xfrm>
          <a:prstGeom prst="roundRect">
            <a:avLst>
              <a:gd name="adj" fmla="val 2394"/>
            </a:avLst>
          </a:prstGeom>
          <a:solidFill>
            <a:srgbClr val="FFFFFF"/>
          </a:solidFill>
          <a:ln w="7620">
            <a:solidFill>
              <a:srgbClr val="DFAB58"/>
            </a:solidFill>
            <a:prstDash val="solid"/>
          </a:ln>
        </p:spPr>
      </p:sp>
      <p:sp>
        <p:nvSpPr>
          <p:cNvPr id="14" name="Text 12"/>
          <p:cNvSpPr/>
          <p:nvPr/>
        </p:nvSpPr>
        <p:spPr>
          <a:xfrm>
            <a:off x="7605474" y="1838682"/>
            <a:ext cx="2356961" cy="294680"/>
          </a:xfrm>
          <a:prstGeom prst="rect">
            <a:avLst/>
          </a:prstGeom>
          <a:noFill/>
          <a:ln/>
        </p:spPr>
        <p:txBody>
          <a:bodyPr wrap="none" lIns="0" tIns="0" rIns="0" bIns="0" rtlCol="0" anchor="t"/>
          <a:lstStyle/>
          <a:p>
            <a:pPr marL="0" indent="0" algn="l">
              <a:lnSpc>
                <a:spcPts val="2300"/>
              </a:lnSpc>
              <a:buNone/>
            </a:pPr>
            <a:r>
              <a:rPr lang="en-US" sz="1850" dirty="0">
                <a:solidFill>
                  <a:srgbClr val="2C2926"/>
                </a:solidFill>
                <a:latin typeface="Bricolage Grotesque Semi Bold" pitchFamily="34" charset="0"/>
                <a:ea typeface="Bricolage Grotesque Semi Bold" pitchFamily="34" charset="-122"/>
                <a:cs typeface="Bricolage Grotesque Semi Bold" pitchFamily="34" charset="-120"/>
              </a:rPr>
              <a:t>Passenger Module</a:t>
            </a:r>
            <a:endParaRPr lang="en-US" sz="1850" dirty="0"/>
          </a:p>
        </p:txBody>
      </p:sp>
      <p:sp>
        <p:nvSpPr>
          <p:cNvPr id="15" name="Text 13"/>
          <p:cNvSpPr/>
          <p:nvPr/>
        </p:nvSpPr>
        <p:spPr>
          <a:xfrm>
            <a:off x="7605474" y="2246471"/>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Dashboard</a:t>
            </a:r>
            <a:endParaRPr lang="en-US" sz="1450" dirty="0"/>
          </a:p>
        </p:txBody>
      </p:sp>
      <p:sp>
        <p:nvSpPr>
          <p:cNvPr id="16" name="Text 14"/>
          <p:cNvSpPr/>
          <p:nvPr/>
        </p:nvSpPr>
        <p:spPr>
          <a:xfrm>
            <a:off x="7605474" y="2614136"/>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Search Ride</a:t>
            </a:r>
            <a:endParaRPr lang="en-US" sz="1450" dirty="0"/>
          </a:p>
        </p:txBody>
      </p:sp>
      <p:sp>
        <p:nvSpPr>
          <p:cNvPr id="17" name="Text 15"/>
          <p:cNvSpPr/>
          <p:nvPr/>
        </p:nvSpPr>
        <p:spPr>
          <a:xfrm>
            <a:off x="7605474" y="2981801"/>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Booking History</a:t>
            </a:r>
            <a:endParaRPr lang="en-US" sz="1450" dirty="0"/>
          </a:p>
        </p:txBody>
      </p:sp>
      <p:sp>
        <p:nvSpPr>
          <p:cNvPr id="18" name="Text 16"/>
          <p:cNvSpPr/>
          <p:nvPr/>
        </p:nvSpPr>
        <p:spPr>
          <a:xfrm>
            <a:off x="7605474" y="3349466"/>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Profile Management</a:t>
            </a:r>
            <a:endParaRPr lang="en-US" sz="1450" dirty="0"/>
          </a:p>
        </p:txBody>
      </p:sp>
      <p:sp>
        <p:nvSpPr>
          <p:cNvPr id="19" name="Text 17"/>
          <p:cNvSpPr/>
          <p:nvPr/>
        </p:nvSpPr>
        <p:spPr>
          <a:xfrm>
            <a:off x="7605474" y="3717131"/>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Notifications</a:t>
            </a:r>
            <a:endParaRPr lang="en-US" sz="1450" dirty="0"/>
          </a:p>
        </p:txBody>
      </p:sp>
      <p:sp>
        <p:nvSpPr>
          <p:cNvPr id="20" name="Shape 18"/>
          <p:cNvSpPr/>
          <p:nvPr/>
        </p:nvSpPr>
        <p:spPr>
          <a:xfrm>
            <a:off x="1352074" y="5138738"/>
            <a:ext cx="5868829" cy="2572345"/>
          </a:xfrm>
          <a:prstGeom prst="roundRect">
            <a:avLst>
              <a:gd name="adj" fmla="val 3079"/>
            </a:avLst>
          </a:prstGeom>
          <a:solidFill>
            <a:srgbClr val="FFFFFF"/>
          </a:solidFill>
          <a:ln w="7620">
            <a:solidFill>
              <a:srgbClr val="EBCC75"/>
            </a:solidFill>
            <a:prstDash val="solid"/>
          </a:ln>
        </p:spPr>
      </p:sp>
      <p:sp>
        <p:nvSpPr>
          <p:cNvPr id="21" name="Text 19"/>
          <p:cNvSpPr/>
          <p:nvPr/>
        </p:nvSpPr>
        <p:spPr>
          <a:xfrm>
            <a:off x="1548170" y="5334833"/>
            <a:ext cx="2356961" cy="294680"/>
          </a:xfrm>
          <a:prstGeom prst="rect">
            <a:avLst/>
          </a:prstGeom>
          <a:noFill/>
          <a:ln/>
        </p:spPr>
        <p:txBody>
          <a:bodyPr wrap="none" lIns="0" tIns="0" rIns="0" bIns="0" rtlCol="0" anchor="t"/>
          <a:lstStyle/>
          <a:p>
            <a:pPr marL="0" indent="0" algn="l">
              <a:lnSpc>
                <a:spcPts val="2300"/>
              </a:lnSpc>
              <a:buNone/>
            </a:pPr>
            <a:r>
              <a:rPr lang="en-US" sz="1850" dirty="0">
                <a:solidFill>
                  <a:srgbClr val="2C2926"/>
                </a:solidFill>
                <a:latin typeface="Bricolage Grotesque Semi Bold" pitchFamily="34" charset="0"/>
                <a:ea typeface="Bricolage Grotesque Semi Bold" pitchFamily="34" charset="-122"/>
                <a:cs typeface="Bricolage Grotesque Semi Bold" pitchFamily="34" charset="-120"/>
              </a:rPr>
              <a:t>Driver Module</a:t>
            </a:r>
            <a:endParaRPr lang="en-US" sz="1850" dirty="0"/>
          </a:p>
        </p:txBody>
      </p:sp>
      <p:sp>
        <p:nvSpPr>
          <p:cNvPr id="22" name="Text 20"/>
          <p:cNvSpPr/>
          <p:nvPr/>
        </p:nvSpPr>
        <p:spPr>
          <a:xfrm>
            <a:off x="1548170" y="5742623"/>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Dashboard</a:t>
            </a:r>
            <a:endParaRPr lang="en-US" sz="1450" dirty="0"/>
          </a:p>
        </p:txBody>
      </p:sp>
      <p:sp>
        <p:nvSpPr>
          <p:cNvPr id="23" name="Text 21"/>
          <p:cNvSpPr/>
          <p:nvPr/>
        </p:nvSpPr>
        <p:spPr>
          <a:xfrm>
            <a:off x="1548170" y="6110288"/>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Post Ride</a:t>
            </a:r>
            <a:endParaRPr lang="en-US" sz="1450" dirty="0"/>
          </a:p>
        </p:txBody>
      </p:sp>
      <p:sp>
        <p:nvSpPr>
          <p:cNvPr id="24" name="Text 22"/>
          <p:cNvSpPr/>
          <p:nvPr/>
        </p:nvSpPr>
        <p:spPr>
          <a:xfrm>
            <a:off x="1548170" y="6477952"/>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My Trips</a:t>
            </a:r>
            <a:endParaRPr lang="en-US" sz="1450" dirty="0"/>
          </a:p>
        </p:txBody>
      </p:sp>
      <p:sp>
        <p:nvSpPr>
          <p:cNvPr id="25" name="Text 23"/>
          <p:cNvSpPr/>
          <p:nvPr/>
        </p:nvSpPr>
        <p:spPr>
          <a:xfrm>
            <a:off x="1548170" y="6845618"/>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Vehicle Management</a:t>
            </a:r>
            <a:endParaRPr lang="en-US" sz="1450" dirty="0"/>
          </a:p>
        </p:txBody>
      </p:sp>
      <p:sp>
        <p:nvSpPr>
          <p:cNvPr id="26" name="Text 24"/>
          <p:cNvSpPr/>
          <p:nvPr/>
        </p:nvSpPr>
        <p:spPr>
          <a:xfrm>
            <a:off x="1548170" y="7213283"/>
            <a:ext cx="5476637"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Earnings Report</a:t>
            </a:r>
            <a:endParaRPr lang="en-US" sz="1450" dirty="0"/>
          </a:p>
        </p:txBody>
      </p:sp>
      <p:sp>
        <p:nvSpPr>
          <p:cNvPr id="27" name="Shape 25"/>
          <p:cNvSpPr/>
          <p:nvPr/>
        </p:nvSpPr>
        <p:spPr>
          <a:xfrm>
            <a:off x="7409378" y="5138738"/>
            <a:ext cx="5868948" cy="2572345"/>
          </a:xfrm>
          <a:prstGeom prst="roundRect">
            <a:avLst>
              <a:gd name="adj" fmla="val 3079"/>
            </a:avLst>
          </a:prstGeom>
          <a:solidFill>
            <a:srgbClr val="FFFFFF"/>
          </a:solidFill>
          <a:ln w="7620">
            <a:solidFill>
              <a:srgbClr val="FDF4DB"/>
            </a:solidFill>
            <a:prstDash val="solid"/>
          </a:ln>
        </p:spPr>
      </p:sp>
      <p:sp>
        <p:nvSpPr>
          <p:cNvPr id="28" name="Text 26"/>
          <p:cNvSpPr/>
          <p:nvPr/>
        </p:nvSpPr>
        <p:spPr>
          <a:xfrm>
            <a:off x="7605474" y="5334833"/>
            <a:ext cx="2356961" cy="294680"/>
          </a:xfrm>
          <a:prstGeom prst="rect">
            <a:avLst/>
          </a:prstGeom>
          <a:noFill/>
          <a:ln/>
        </p:spPr>
        <p:txBody>
          <a:bodyPr wrap="none" lIns="0" tIns="0" rIns="0" bIns="0" rtlCol="0" anchor="t"/>
          <a:lstStyle/>
          <a:p>
            <a:pPr marL="0" indent="0" algn="l">
              <a:lnSpc>
                <a:spcPts val="2300"/>
              </a:lnSpc>
              <a:buNone/>
            </a:pPr>
            <a:r>
              <a:rPr lang="en-US" sz="1850" dirty="0">
                <a:solidFill>
                  <a:srgbClr val="2C2926"/>
                </a:solidFill>
                <a:latin typeface="Bricolage Grotesque Semi Bold" pitchFamily="34" charset="0"/>
                <a:ea typeface="Bricolage Grotesque Semi Bold" pitchFamily="34" charset="-122"/>
                <a:cs typeface="Bricolage Grotesque Semi Bold" pitchFamily="34" charset="-120"/>
              </a:rPr>
              <a:t>Admin Module</a:t>
            </a:r>
            <a:endParaRPr lang="en-US" sz="1850" dirty="0"/>
          </a:p>
        </p:txBody>
      </p:sp>
      <p:sp>
        <p:nvSpPr>
          <p:cNvPr id="29" name="Text 27"/>
          <p:cNvSpPr/>
          <p:nvPr/>
        </p:nvSpPr>
        <p:spPr>
          <a:xfrm>
            <a:off x="7605474" y="5742623"/>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Dashboard</a:t>
            </a:r>
            <a:endParaRPr lang="en-US" sz="1450" dirty="0"/>
          </a:p>
        </p:txBody>
      </p:sp>
      <p:sp>
        <p:nvSpPr>
          <p:cNvPr id="30" name="Text 28"/>
          <p:cNvSpPr/>
          <p:nvPr/>
        </p:nvSpPr>
        <p:spPr>
          <a:xfrm>
            <a:off x="7605474" y="6110288"/>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User Management</a:t>
            </a:r>
            <a:endParaRPr lang="en-US" sz="1450" dirty="0"/>
          </a:p>
        </p:txBody>
      </p:sp>
      <p:sp>
        <p:nvSpPr>
          <p:cNvPr id="31" name="Text 29"/>
          <p:cNvSpPr/>
          <p:nvPr/>
        </p:nvSpPr>
        <p:spPr>
          <a:xfrm>
            <a:off x="7605474" y="6477952"/>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Trip Management</a:t>
            </a:r>
            <a:endParaRPr lang="en-US" sz="1450" dirty="0"/>
          </a:p>
        </p:txBody>
      </p:sp>
      <p:sp>
        <p:nvSpPr>
          <p:cNvPr id="32" name="Text 30"/>
          <p:cNvSpPr/>
          <p:nvPr/>
        </p:nvSpPr>
        <p:spPr>
          <a:xfrm>
            <a:off x="7605474" y="6845618"/>
            <a:ext cx="5476756" cy="3017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C2926"/>
                </a:solidFill>
                <a:latin typeface="Inter" pitchFamily="34" charset="0"/>
                <a:ea typeface="Inter" pitchFamily="34" charset="-122"/>
                <a:cs typeface="Inter" pitchFamily="34" charset="-120"/>
              </a:rPr>
              <a:t>Reports and Analytics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728442" y="311825"/>
            <a:ext cx="2531864" cy="177165"/>
          </a:xfrm>
          <a:prstGeom prst="rect">
            <a:avLst/>
          </a:prstGeom>
          <a:noFill/>
          <a:ln/>
        </p:spPr>
        <p:txBody>
          <a:bodyPr wrap="none" lIns="0" tIns="0" rIns="0" bIns="0" rtlCol="0" anchor="t"/>
          <a:lstStyle/>
          <a:p>
            <a:pPr marL="0" indent="0" algn="l">
              <a:lnSpc>
                <a:spcPts val="1350"/>
              </a:lnSpc>
              <a:buNone/>
            </a:pPr>
            <a:r>
              <a:rPr lang="en-US" sz="1100" dirty="0">
                <a:solidFill>
                  <a:srgbClr val="E7BF6A"/>
                </a:solidFill>
                <a:latin typeface="Bricolage Grotesque Semi Bold" pitchFamily="34" charset="0"/>
                <a:ea typeface="Bricolage Grotesque Semi Bold" pitchFamily="34" charset="-122"/>
                <a:cs typeface="Bricolage Grotesque Semi Bold" pitchFamily="34" charset="-120"/>
              </a:rPr>
              <a:t>Security, Advantages &amp; Future Scope</a:t>
            </a:r>
            <a:endParaRPr lang="en-US" sz="1100" dirty="0"/>
          </a:p>
        </p:txBody>
      </p:sp>
      <p:sp>
        <p:nvSpPr>
          <p:cNvPr id="3" name="Text 1"/>
          <p:cNvSpPr/>
          <p:nvPr/>
        </p:nvSpPr>
        <p:spPr>
          <a:xfrm>
            <a:off x="3728442" y="534352"/>
            <a:ext cx="3638550" cy="283488"/>
          </a:xfrm>
          <a:prstGeom prst="rect">
            <a:avLst/>
          </a:prstGeom>
          <a:noFill/>
          <a:ln/>
        </p:spPr>
        <p:txBody>
          <a:bodyPr wrap="none" lIns="0" tIns="0" rIns="0" bIns="0" rtlCol="0" anchor="t"/>
          <a:lstStyle/>
          <a:p>
            <a:pPr marL="0" indent="0" algn="l">
              <a:lnSpc>
                <a:spcPts val="2200"/>
              </a:lnSpc>
              <a:buNone/>
            </a:pPr>
            <a:r>
              <a:rPr lang="en-US" sz="1750" dirty="0">
                <a:solidFill>
                  <a:srgbClr val="2C2926"/>
                </a:solidFill>
                <a:latin typeface="Bricolage Grotesque Semi Bold" pitchFamily="34" charset="0"/>
                <a:ea typeface="Bricolage Grotesque Semi Bold" pitchFamily="34" charset="-122"/>
                <a:cs typeface="Bricolage Grotesque Semi Bold" pitchFamily="34" charset="-120"/>
              </a:rPr>
              <a:t>Comprehensive Project Overview</a:t>
            </a:r>
            <a:endParaRPr lang="en-US" sz="1750" dirty="0"/>
          </a:p>
        </p:txBody>
      </p:sp>
      <p:sp>
        <p:nvSpPr>
          <p:cNvPr id="4" name="Text 2"/>
          <p:cNvSpPr/>
          <p:nvPr/>
        </p:nvSpPr>
        <p:spPr>
          <a:xfrm>
            <a:off x="3728442" y="863203"/>
            <a:ext cx="2168009" cy="212646"/>
          </a:xfrm>
          <a:prstGeom prst="rect">
            <a:avLst/>
          </a:prstGeom>
          <a:noFill/>
          <a:ln/>
        </p:spPr>
        <p:txBody>
          <a:bodyPr wrap="none" lIns="0" tIns="0" rIns="0" bIns="0" rtlCol="0" anchor="t"/>
          <a:lstStyle/>
          <a:p>
            <a:pPr marL="0" indent="0" algn="l">
              <a:lnSpc>
                <a:spcPts val="1650"/>
              </a:lnSpc>
              <a:buNone/>
            </a:pPr>
            <a:r>
              <a:rPr lang="en-US" sz="1300" dirty="0">
                <a:solidFill>
                  <a:srgbClr val="DFAB58"/>
                </a:solidFill>
                <a:latin typeface="Bricolage Grotesque Semi Bold" pitchFamily="34" charset="0"/>
                <a:ea typeface="Bricolage Grotesque Semi Bold" pitchFamily="34" charset="-122"/>
                <a:cs typeface="Bricolage Grotesque Semi Bold" pitchFamily="34" charset="-120"/>
              </a:rPr>
              <a:t>1. Security Implementation</a:t>
            </a:r>
            <a:endParaRPr lang="en-US" sz="1300" dirty="0"/>
          </a:p>
        </p:txBody>
      </p:sp>
      <p:sp>
        <p:nvSpPr>
          <p:cNvPr id="5" name="Text 3"/>
          <p:cNvSpPr/>
          <p:nvPr/>
        </p:nvSpPr>
        <p:spPr>
          <a:xfrm>
            <a:off x="3728442" y="1245870"/>
            <a:ext cx="7173397" cy="226814"/>
          </a:xfrm>
          <a:prstGeom prst="rect">
            <a:avLst/>
          </a:prstGeom>
          <a:noFill/>
          <a:ln/>
        </p:spPr>
        <p:txBody>
          <a:bodyPr wrap="none" lIns="0" tIns="0" rIns="0" bIns="0" rtlCol="0" anchor="t"/>
          <a:lstStyle/>
          <a:p>
            <a:pPr marL="0" indent="0" algn="l">
              <a:lnSpc>
                <a:spcPts val="1750"/>
              </a:lnSpc>
              <a:buNone/>
            </a:pPr>
            <a:r>
              <a:rPr lang="en-US" sz="1100" dirty="0">
                <a:solidFill>
                  <a:srgbClr val="2C2926"/>
                </a:solidFill>
                <a:latin typeface="Inter" pitchFamily="34" charset="0"/>
                <a:ea typeface="Inter" pitchFamily="34" charset="-122"/>
                <a:cs typeface="Inter" pitchFamily="34" charset="-120"/>
              </a:rPr>
              <a:t>The system ensures data protection and user safety using:</a:t>
            </a:r>
            <a:endParaRPr lang="en-US" sz="1100" dirty="0"/>
          </a:p>
        </p:txBody>
      </p:sp>
      <p:sp>
        <p:nvSpPr>
          <p:cNvPr id="6" name="Text 4"/>
          <p:cNvSpPr/>
          <p:nvPr/>
        </p:nvSpPr>
        <p:spPr>
          <a:xfrm>
            <a:off x="3728442" y="1600200"/>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JWT-based authentication for secure sessions</a:t>
            </a:r>
            <a:endParaRPr lang="en-US" sz="850" dirty="0"/>
          </a:p>
        </p:txBody>
      </p:sp>
      <p:sp>
        <p:nvSpPr>
          <p:cNvPr id="7" name="Text 5"/>
          <p:cNvSpPr/>
          <p:nvPr/>
        </p:nvSpPr>
        <p:spPr>
          <a:xfrm>
            <a:off x="3728442" y="1821299"/>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Role-based access control for Admin, Driver, and Passenger</a:t>
            </a:r>
            <a:endParaRPr lang="en-US" sz="850" dirty="0"/>
          </a:p>
        </p:txBody>
      </p:sp>
      <p:sp>
        <p:nvSpPr>
          <p:cNvPr id="8" name="Text 6"/>
          <p:cNvSpPr/>
          <p:nvPr/>
        </p:nvSpPr>
        <p:spPr>
          <a:xfrm>
            <a:off x="3728442" y="2042398"/>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OTP verification for email and password recovery</a:t>
            </a:r>
            <a:endParaRPr lang="en-US" sz="850" dirty="0"/>
          </a:p>
        </p:txBody>
      </p:sp>
      <p:sp>
        <p:nvSpPr>
          <p:cNvPr id="9" name="Text 7"/>
          <p:cNvSpPr/>
          <p:nvPr/>
        </p:nvSpPr>
        <p:spPr>
          <a:xfrm>
            <a:off x="3728442" y="2263497"/>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Encrypted passwords using secure hashing techniques</a:t>
            </a:r>
            <a:endParaRPr lang="en-US" sz="850" dirty="0"/>
          </a:p>
        </p:txBody>
      </p:sp>
      <p:sp>
        <p:nvSpPr>
          <p:cNvPr id="10" name="Text 8"/>
          <p:cNvSpPr/>
          <p:nvPr/>
        </p:nvSpPr>
        <p:spPr>
          <a:xfrm>
            <a:off x="3728442" y="2572464"/>
            <a:ext cx="7173397" cy="226814"/>
          </a:xfrm>
          <a:prstGeom prst="rect">
            <a:avLst/>
          </a:prstGeom>
          <a:noFill/>
          <a:ln/>
        </p:spPr>
        <p:txBody>
          <a:bodyPr wrap="none" lIns="0" tIns="0" rIns="0" bIns="0" rtlCol="0" anchor="t"/>
          <a:lstStyle/>
          <a:p>
            <a:pPr marL="0" indent="0" algn="l">
              <a:lnSpc>
                <a:spcPts val="1750"/>
              </a:lnSpc>
              <a:buNone/>
            </a:pPr>
            <a:r>
              <a:rPr lang="en-US" sz="1100" dirty="0">
                <a:solidFill>
                  <a:srgbClr val="2C2926"/>
                </a:solidFill>
                <a:latin typeface="Inter" pitchFamily="34" charset="0"/>
                <a:ea typeface="Inter" pitchFamily="34" charset="-122"/>
                <a:cs typeface="Inter" pitchFamily="34" charset="-120"/>
              </a:rPr>
              <a:t>These measures protect the platform from unauthorised access and data misuse.</a:t>
            </a:r>
            <a:endParaRPr lang="en-US" sz="1100" dirty="0"/>
          </a:p>
        </p:txBody>
      </p:sp>
      <p:sp>
        <p:nvSpPr>
          <p:cNvPr id="11" name="Text 9"/>
          <p:cNvSpPr/>
          <p:nvPr/>
        </p:nvSpPr>
        <p:spPr>
          <a:xfrm>
            <a:off x="3728442" y="2969300"/>
            <a:ext cx="2288381" cy="212646"/>
          </a:xfrm>
          <a:prstGeom prst="rect">
            <a:avLst/>
          </a:prstGeom>
          <a:noFill/>
          <a:ln/>
        </p:spPr>
        <p:txBody>
          <a:bodyPr wrap="none" lIns="0" tIns="0" rIns="0" bIns="0" rtlCol="0" anchor="t"/>
          <a:lstStyle/>
          <a:p>
            <a:pPr marL="0" indent="0" algn="l">
              <a:lnSpc>
                <a:spcPts val="1650"/>
              </a:lnSpc>
              <a:buNone/>
            </a:pPr>
            <a:r>
              <a:rPr lang="en-US" sz="1300" dirty="0">
                <a:solidFill>
                  <a:srgbClr val="DFAB58"/>
                </a:solidFill>
                <a:latin typeface="Bricolage Grotesque Semi Bold" pitchFamily="34" charset="0"/>
                <a:ea typeface="Bricolage Grotesque Semi Bold" pitchFamily="34" charset="-122"/>
                <a:cs typeface="Bricolage Grotesque Semi Bold" pitchFamily="34" charset="-120"/>
              </a:rPr>
              <a:t>1. Advantages of the System</a:t>
            </a:r>
            <a:endParaRPr lang="en-US" sz="1300" dirty="0"/>
          </a:p>
        </p:txBody>
      </p:sp>
      <p:sp>
        <p:nvSpPr>
          <p:cNvPr id="12" name="Text 10"/>
          <p:cNvSpPr/>
          <p:nvPr/>
        </p:nvSpPr>
        <p:spPr>
          <a:xfrm>
            <a:off x="3728442" y="3351967"/>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Reduces transportation cost for passengers</a:t>
            </a:r>
            <a:endParaRPr lang="en-US" sz="850" dirty="0"/>
          </a:p>
        </p:txBody>
      </p:sp>
      <p:sp>
        <p:nvSpPr>
          <p:cNvPr id="13" name="Text 11"/>
          <p:cNvSpPr/>
          <p:nvPr/>
        </p:nvSpPr>
        <p:spPr>
          <a:xfrm>
            <a:off x="3728442" y="3573066"/>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Saves fuel and promotes environmental sustainability</a:t>
            </a:r>
            <a:endParaRPr lang="en-US" sz="850" dirty="0"/>
          </a:p>
        </p:txBody>
      </p:sp>
      <p:sp>
        <p:nvSpPr>
          <p:cNvPr id="14" name="Text 12"/>
          <p:cNvSpPr/>
          <p:nvPr/>
        </p:nvSpPr>
        <p:spPr>
          <a:xfrm>
            <a:off x="3728442" y="3794165"/>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Ensures safety with verified drivers and emergency features</a:t>
            </a:r>
            <a:endParaRPr lang="en-US" sz="850" dirty="0"/>
          </a:p>
        </p:txBody>
      </p:sp>
      <p:sp>
        <p:nvSpPr>
          <p:cNvPr id="15" name="Text 13"/>
          <p:cNvSpPr/>
          <p:nvPr/>
        </p:nvSpPr>
        <p:spPr>
          <a:xfrm>
            <a:off x="3728442" y="4015264"/>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Improves ride availability in remote and semi-urban areas</a:t>
            </a:r>
            <a:endParaRPr lang="en-US" sz="850" dirty="0"/>
          </a:p>
        </p:txBody>
      </p:sp>
      <p:sp>
        <p:nvSpPr>
          <p:cNvPr id="16" name="Text 14"/>
          <p:cNvSpPr/>
          <p:nvPr/>
        </p:nvSpPr>
        <p:spPr>
          <a:xfrm>
            <a:off x="3728442" y="4236363"/>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Builds trust through ratings and feedback</a:t>
            </a:r>
            <a:endParaRPr lang="en-US" sz="850" dirty="0"/>
          </a:p>
        </p:txBody>
      </p:sp>
      <p:sp>
        <p:nvSpPr>
          <p:cNvPr id="17" name="Text 15"/>
          <p:cNvSpPr/>
          <p:nvPr/>
        </p:nvSpPr>
        <p:spPr>
          <a:xfrm>
            <a:off x="3728442" y="4457462"/>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Easy to use and accessible on modern devices</a:t>
            </a:r>
            <a:endParaRPr lang="en-US" sz="850" dirty="0"/>
          </a:p>
        </p:txBody>
      </p:sp>
      <p:sp>
        <p:nvSpPr>
          <p:cNvPr id="18" name="Text 16"/>
          <p:cNvSpPr/>
          <p:nvPr/>
        </p:nvSpPr>
        <p:spPr>
          <a:xfrm>
            <a:off x="3728442" y="4808934"/>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DFAB58"/>
                </a:solidFill>
                <a:latin typeface="Bricolage Grotesque Semi Bold" pitchFamily="34" charset="0"/>
                <a:ea typeface="Bricolage Grotesque Semi Bold" pitchFamily="34" charset="-122"/>
                <a:cs typeface="Bricolage Grotesque Semi Bold" pitchFamily="34" charset="-120"/>
              </a:rPr>
              <a:t>1. Future Scope</a:t>
            </a:r>
            <a:endParaRPr lang="en-US" sz="1300" dirty="0"/>
          </a:p>
        </p:txBody>
      </p:sp>
      <p:sp>
        <p:nvSpPr>
          <p:cNvPr id="19" name="Text 17"/>
          <p:cNvSpPr/>
          <p:nvPr/>
        </p:nvSpPr>
        <p:spPr>
          <a:xfrm>
            <a:off x="3728442" y="5191601"/>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AI-based smart ride matching</a:t>
            </a:r>
            <a:endParaRPr lang="en-US" sz="850" dirty="0"/>
          </a:p>
        </p:txBody>
      </p:sp>
      <p:sp>
        <p:nvSpPr>
          <p:cNvPr id="20" name="Text 18"/>
          <p:cNvSpPr/>
          <p:nvPr/>
        </p:nvSpPr>
        <p:spPr>
          <a:xfrm>
            <a:off x="3728442" y="5412700"/>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Multi-language support</a:t>
            </a:r>
            <a:endParaRPr lang="en-US" sz="850" dirty="0"/>
          </a:p>
        </p:txBody>
      </p:sp>
      <p:sp>
        <p:nvSpPr>
          <p:cNvPr id="21" name="Text 19"/>
          <p:cNvSpPr/>
          <p:nvPr/>
        </p:nvSpPr>
        <p:spPr>
          <a:xfrm>
            <a:off x="3728442" y="5633799"/>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In-app chat system between driver and passenger</a:t>
            </a:r>
            <a:endParaRPr lang="en-US" sz="850" dirty="0"/>
          </a:p>
        </p:txBody>
      </p:sp>
      <p:sp>
        <p:nvSpPr>
          <p:cNvPr id="22" name="Text 20"/>
          <p:cNvSpPr/>
          <p:nvPr/>
        </p:nvSpPr>
        <p:spPr>
          <a:xfrm>
            <a:off x="3728442" y="5854898"/>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Subscription plans for frequent users</a:t>
            </a:r>
            <a:endParaRPr lang="en-US" sz="850" dirty="0"/>
          </a:p>
        </p:txBody>
      </p:sp>
      <p:sp>
        <p:nvSpPr>
          <p:cNvPr id="23" name="Text 21"/>
          <p:cNvSpPr/>
          <p:nvPr/>
        </p:nvSpPr>
        <p:spPr>
          <a:xfrm>
            <a:off x="3728442" y="6075998"/>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Mobile application version</a:t>
            </a:r>
            <a:endParaRPr lang="en-US" sz="850" dirty="0"/>
          </a:p>
        </p:txBody>
      </p:sp>
      <p:sp>
        <p:nvSpPr>
          <p:cNvPr id="24" name="Text 22"/>
          <p:cNvSpPr/>
          <p:nvPr/>
        </p:nvSpPr>
        <p:spPr>
          <a:xfrm>
            <a:off x="3728442" y="6297097"/>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Advanced analytics and reporting tools</a:t>
            </a:r>
            <a:endParaRPr lang="en-US" sz="850" dirty="0"/>
          </a:p>
        </p:txBody>
      </p:sp>
      <p:sp>
        <p:nvSpPr>
          <p:cNvPr id="25" name="Text 23"/>
          <p:cNvSpPr/>
          <p:nvPr/>
        </p:nvSpPr>
        <p:spPr>
          <a:xfrm>
            <a:off x="3728442" y="6648569"/>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DFAB58"/>
                </a:solidFill>
                <a:latin typeface="Bricolage Grotesque Semi Bold" pitchFamily="34" charset="0"/>
                <a:ea typeface="Bricolage Grotesque Semi Bold" pitchFamily="34" charset="-122"/>
                <a:cs typeface="Bricolage Grotesque Semi Bold" pitchFamily="34" charset="-120"/>
              </a:rPr>
              <a:t>1. Conclusion</a:t>
            </a:r>
            <a:endParaRPr lang="en-US" sz="1300" dirty="0"/>
          </a:p>
        </p:txBody>
      </p:sp>
      <p:sp>
        <p:nvSpPr>
          <p:cNvPr id="26" name="Text 24"/>
          <p:cNvSpPr/>
          <p:nvPr/>
        </p:nvSpPr>
        <p:spPr>
          <a:xfrm>
            <a:off x="3728442" y="7031236"/>
            <a:ext cx="7173397" cy="680442"/>
          </a:xfrm>
          <a:prstGeom prst="rect">
            <a:avLst/>
          </a:prstGeom>
          <a:noFill/>
          <a:ln/>
        </p:spPr>
        <p:txBody>
          <a:bodyPr wrap="square" lIns="0" tIns="0" rIns="0" bIns="0" rtlCol="0" anchor="t"/>
          <a:lstStyle/>
          <a:p>
            <a:pPr marL="0" indent="0" algn="l">
              <a:lnSpc>
                <a:spcPts val="1750"/>
              </a:lnSpc>
              <a:buNone/>
            </a:pPr>
            <a:r>
              <a:rPr lang="en-US" sz="1100" dirty="0">
                <a:solidFill>
                  <a:srgbClr val="2C2926"/>
                </a:solidFill>
                <a:latin typeface="Inter" pitchFamily="34" charset="0"/>
                <a:ea typeface="Inter" pitchFamily="34" charset="-122"/>
                <a:cs typeface="Inter" pitchFamily="34" charset="-120"/>
              </a:rPr>
              <a:t>Yavij Express successfully addresses real-world transportation challenges by providing a reliable, secure, and cost-effective ride-sharing solution. The platform bridges the gap between vehicle owners and passengers, ensuring efficient utilisation of resources whilst promoting eco-friendly travel.</a:t>
            </a:r>
            <a:endParaRPr lang="en-US" sz="1100" dirty="0"/>
          </a:p>
        </p:txBody>
      </p:sp>
      <p:sp>
        <p:nvSpPr>
          <p:cNvPr id="27" name="Text 25"/>
          <p:cNvSpPr/>
          <p:nvPr/>
        </p:nvSpPr>
        <p:spPr>
          <a:xfrm>
            <a:off x="3728442" y="7839194"/>
            <a:ext cx="7173397" cy="907256"/>
          </a:xfrm>
          <a:prstGeom prst="rect">
            <a:avLst/>
          </a:prstGeom>
          <a:noFill/>
          <a:ln/>
        </p:spPr>
        <p:txBody>
          <a:bodyPr wrap="square" lIns="0" tIns="0" rIns="0" bIns="0" rtlCol="0" anchor="t"/>
          <a:lstStyle/>
          <a:p>
            <a:pPr marL="0" indent="0" algn="l">
              <a:lnSpc>
                <a:spcPts val="1750"/>
              </a:lnSpc>
              <a:buNone/>
            </a:pPr>
            <a:r>
              <a:rPr lang="en-US" sz="1100" dirty="0">
                <a:solidFill>
                  <a:srgbClr val="2C2926"/>
                </a:solidFill>
                <a:latin typeface="Inter" pitchFamily="34" charset="0"/>
                <a:ea typeface="Inter" pitchFamily="34" charset="-122"/>
                <a:cs typeface="Inter" pitchFamily="34" charset="-120"/>
              </a:rPr>
              <a:t>With its modern architecture, strong security mechanisms, and user-centric design, the system proves to be a scalable and practical solution for daily commuters, students, office workers, and inter-city travellers. This project demonstrates how technology can be effectively used to solve social and environmental problems through community participation and digital innovation.</a:t>
            </a:r>
            <a:endParaRPr lang="en-US" sz="1100" dirty="0"/>
          </a:p>
        </p:txBody>
      </p:sp>
      <p:sp>
        <p:nvSpPr>
          <p:cNvPr id="28" name="Text 26"/>
          <p:cNvSpPr/>
          <p:nvPr/>
        </p:nvSpPr>
        <p:spPr>
          <a:xfrm>
            <a:off x="3728442" y="8916472"/>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DFAB58"/>
                </a:solidFill>
                <a:latin typeface="Bricolage Grotesque Semi Bold" pitchFamily="34" charset="0"/>
                <a:ea typeface="Bricolage Grotesque Semi Bold" pitchFamily="34" charset="-122"/>
                <a:cs typeface="Bricolage Grotesque Semi Bold" pitchFamily="34" charset="-120"/>
              </a:rPr>
              <a:t>1. References</a:t>
            </a:r>
            <a:endParaRPr lang="en-US" sz="1300" dirty="0"/>
          </a:p>
        </p:txBody>
      </p:sp>
      <p:sp>
        <p:nvSpPr>
          <p:cNvPr id="29" name="Text 27"/>
          <p:cNvSpPr/>
          <p:nvPr/>
        </p:nvSpPr>
        <p:spPr>
          <a:xfrm>
            <a:off x="3728442" y="9299138"/>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Spring Boot Official Documentation</a:t>
            </a:r>
            <a:endParaRPr lang="en-US" sz="850" dirty="0"/>
          </a:p>
        </p:txBody>
      </p:sp>
      <p:sp>
        <p:nvSpPr>
          <p:cNvPr id="30" name="Text 28"/>
          <p:cNvSpPr/>
          <p:nvPr/>
        </p:nvSpPr>
        <p:spPr>
          <a:xfrm>
            <a:off x="3728442" y="9520238"/>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React Documentation</a:t>
            </a:r>
            <a:endParaRPr lang="en-US" sz="850" dirty="0"/>
          </a:p>
        </p:txBody>
      </p:sp>
      <p:sp>
        <p:nvSpPr>
          <p:cNvPr id="31" name="Text 29"/>
          <p:cNvSpPr/>
          <p:nvPr/>
        </p:nvSpPr>
        <p:spPr>
          <a:xfrm>
            <a:off x="3728442" y="9741337"/>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PostgreSQL Documentation</a:t>
            </a:r>
            <a:endParaRPr lang="en-US" sz="850" dirty="0"/>
          </a:p>
        </p:txBody>
      </p:sp>
      <p:sp>
        <p:nvSpPr>
          <p:cNvPr id="32" name="Text 30"/>
          <p:cNvSpPr/>
          <p:nvPr/>
        </p:nvSpPr>
        <p:spPr>
          <a:xfrm>
            <a:off x="3728442" y="9962436"/>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Razorpay API Guide</a:t>
            </a:r>
            <a:endParaRPr lang="en-US" sz="850" dirty="0"/>
          </a:p>
        </p:txBody>
      </p:sp>
      <p:sp>
        <p:nvSpPr>
          <p:cNvPr id="33" name="Text 31"/>
          <p:cNvSpPr/>
          <p:nvPr/>
        </p:nvSpPr>
        <p:spPr>
          <a:xfrm>
            <a:off x="3728442" y="10183535"/>
            <a:ext cx="7173397" cy="181451"/>
          </a:xfrm>
          <a:prstGeom prst="rect">
            <a:avLst/>
          </a:prstGeom>
          <a:noFill/>
          <a:ln/>
        </p:spPr>
        <p:txBody>
          <a:bodyPr wrap="none" lIns="0" tIns="0" rIns="0" bIns="0" rtlCol="0" anchor="t"/>
          <a:lstStyle/>
          <a:p>
            <a:pPr marL="342900" indent="-342900" algn="l">
              <a:lnSpc>
                <a:spcPts val="1400"/>
              </a:lnSpc>
              <a:buSzPct val="100000"/>
              <a:buChar char="•"/>
            </a:pPr>
            <a:r>
              <a:rPr lang="en-US" sz="850" dirty="0">
                <a:solidFill>
                  <a:srgbClr val="2C2926"/>
                </a:solidFill>
                <a:latin typeface="Inter" pitchFamily="34" charset="0"/>
                <a:ea typeface="Inter" pitchFamily="34" charset="-122"/>
                <a:cs typeface="Inter" pitchFamily="34" charset="-120"/>
              </a:rPr>
              <a:t>JWT Authentication Standards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1186</Words>
  <Application>Microsoft Office PowerPoint</Application>
  <PresentationFormat>Custom</PresentationFormat>
  <Paragraphs>179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Bricolage Grotesque Semi Bold</vt:lpstr>
      <vt:lpstr>Inter</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Microsoft account</cp:lastModifiedBy>
  <cp:revision>3</cp:revision>
  <dcterms:created xsi:type="dcterms:W3CDTF">2026-01-06T20:32:21Z</dcterms:created>
  <dcterms:modified xsi:type="dcterms:W3CDTF">2026-01-06T20:38:14Z</dcterms:modified>
</cp:coreProperties>
</file>